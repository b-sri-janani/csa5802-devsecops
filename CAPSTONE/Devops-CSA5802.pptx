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74" r:id="rId4"/>
    <p:sldId id="258" r:id="rId5"/>
    <p:sldId id="268" r:id="rId6"/>
    <p:sldId id="261" r:id="rId7"/>
    <p:sldId id="278" r:id="rId8"/>
    <p:sldId id="279" r:id="rId9"/>
    <p:sldId id="280" r:id="rId10"/>
    <p:sldId id="262" r:id="rId11"/>
    <p:sldId id="263" r:id="rId12"/>
    <p:sldId id="265" r:id="rId13"/>
    <p:sldId id="267"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p:scale>
          <a:sx n="58" d="100"/>
          <a:sy n="58" d="100"/>
        </p:scale>
        <p:origin x="9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notesMaster" Target="notesMasters/notesMaster1.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5:40:04.533"/>
    </inkml:context>
    <inkml:brush xml:id="br0">
      <inkml:brushProperty name="width" value="0.035" units="cm"/>
      <inkml:brushProperty name="height" value="0.035" units="cm"/>
      <inkml:brushProperty name="ignorePressure" value="1"/>
    </inkml:brush>
  </inkml:definitions>
  <inkml:trace contextRef="#ctx0" brushRef="#br0">0 1,'0'14517,"0"-14517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1:22.426"/>
    </inkml:context>
    <inkml:brush xml:id="br0">
      <inkml:brushProperty name="width" value="0.035" units="cm"/>
      <inkml:brushProperty name="height" value="0.035" units="cm"/>
      <inkml:brushProperty name="ignorePressure" value="1"/>
    </inkml:brush>
  </inkml:definitions>
  <inkml:trace contextRef="#ctx0" brushRef="#br0">0 357,'0'50,"0"-29,0-17,0-7,0-426,0 14510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6:01.155"/>
    </inkml:context>
    <inkml:brush xml:id="br0">
      <inkml:brushProperty name="width" value="0.035" units="cm"/>
      <inkml:brushProperty name="height" value="0.035" units="cm"/>
      <inkml:brushProperty name="ignorePressure" value="1"/>
    </inkml:brush>
  </inkml:definitions>
  <inkml:trace contextRef="#ctx0" brushRef="#br0">362 1,'1427'0,"-2955"0</inkml:trace>
  <inkml:trace contextRef="#ctx0" brushRef="#br0" timeOffset="-1">261 1,'30682'0,"-27722"0,-2954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1:22.424"/>
    </inkml:context>
    <inkml:brush xml:id="br0">
      <inkml:brushProperty name="width" value="0.035" units="cm"/>
      <inkml:brushProperty name="height" value="0.035" units="cm"/>
      <inkml:brushProperty name="ignorePressure" value="1"/>
    </inkml:brush>
  </inkml:definitions>
  <inkml:trace contextRef="#ctx0" brushRef="#br0">1 81,'0'2003,"0"-4087,0 17099</inkml:trace>
  <inkml:trace contextRef="#ctx0" brushRef="#br0" timeOffset="131977.26">1 16239,'0'8,"0"30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3:38.590"/>
    </inkml:context>
    <inkml:brush xml:id="br0">
      <inkml:brushProperty name="width" value="0.035" units="cm"/>
      <inkml:brushProperty name="height" value="0.035" units="cm"/>
      <inkml:brushProperty name="ignorePressure" value="1"/>
    </inkml:brush>
  </inkml:definitions>
  <inkml:trace contextRef="#ctx0" brushRef="#br0">1 201,'0'1574,"0"-2915,0 2638,0-2514,0 3068,0-3814,0 4182,0-4739</inkml:trace>
  <inkml:trace contextRef="#ctx0" brushRef="#br0" timeOffset="1">1 101,'0'3458,"0"-6794,0 4960,0-3241,0 2943,0-2479,0 2116,0-1913,0 5616,0-4708,0 15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8:12:05.924"/>
    </inkml:context>
    <inkml:brush xml:id="br0">
      <inkml:brushProperty name="width" value="0.05" units="cm"/>
      <inkml:brushProperty name="height" value="0.05" units="cm"/>
    </inkml:brush>
  </inkml:definitions>
  <inkml:trace contextRef="#ctx0" brushRef="#br0">1 1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6:01.153"/>
    </inkml:context>
    <inkml:brush xml:id="br0">
      <inkml:brushProperty name="width" value="0.05" units="cm"/>
      <inkml:brushProperty name="height" value="0.05" units="cm"/>
      <inkml:brushProperty name="ignorePressure" value="1"/>
    </inkml:brush>
  </inkml:definitions>
  <inkml:trace contextRef="#ctx0" brushRef="#br0">1131 0,'0'0,"0"0,0 0,0 0,11 0,1742 0,-3620 0</inkml:trace>
  <inkml:trace contextRef="#ctx0" brushRef="#br0" timeOffset="-1">1028 0,'1341'0,"-2682"0</inkml:trace>
  <inkml:trace contextRef="#ctx0" brushRef="#br0" timeOffset="-3">1028 0,'11644'0</inkml:trace>
  <inkml:trace contextRef="#ctx0" brushRef="#br0" timeOffset="-142564.19">13650 0,'21195'0</inkml:trace>
  <inkml:trace contextRef="#ctx0" brushRef="#br0" timeOffset="-142567.19">34845 0,'-21195'0</inkml:trace>
  <inkml:trace contextRef="#ctx0" brushRef="#br0" timeOffset="-4">12672 0,'-4649'0,"-2346"0</inkml:trace>
  <inkml:trace contextRef="#ctx0" brushRef="#br0" timeOffset="-5">1028 0,'11644'0</inkml:trace>
  <inkml:trace contextRef="#ctx0" brushRef="#br0" timeOffset="-142568.19">13650 0,'11922'0,"-2649"0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6:01.147"/>
    </inkml:context>
    <inkml:brush xml:id="br0">
      <inkml:brushProperty name="width" value="0.05" units="cm"/>
      <inkml:brushProperty name="height" value="0.05" units="cm"/>
      <inkml:brushProperty name="ignorePressure" value="1"/>
    </inkml:brush>
  </inkml:definitions>
  <inkml:trace contextRef="#ctx0" brushRef="#br0">374 1,'1680'0,"-3360"0</inkml:trace>
  <inkml:trace contextRef="#ctx0" brushRef="#br0" timeOffset="-2">374 1,'333'0,"-365"0,27 0,23 0,10626 0,-10832 0,-12 0,-89 0,-76 0,-4570 0,5156 0,31 0,110 0,102 0,81 0,62 0,11854 0,-12655 0,-15 0,-127 0,-119 0,-4489 0,5183 0,53 0,129 0,113 0,92 0,69 0,9738 0,-10743 0,-16 0,-112 0,-3613 0,4436 0,-12 0,111 0,94 0,78 0,7847 0,-8672 0,-35 0,-100 0,-82 0,-3675 0,4240 0,58 0,100 0,78 0,4340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3:38.583"/>
    </inkml:context>
    <inkml:brush xml:id="br0">
      <inkml:brushProperty name="width" value="0.05" units="cm"/>
      <inkml:brushProperty name="height" value="0.05" units="cm"/>
      <inkml:brushProperty name="ignorePressure" value="1"/>
    </inkml:brush>
  </inkml:definitions>
  <inkml:trace contextRef="#ctx0" brushRef="#br0">0 338,'0'1519,"0"-3038</inkml:trace>
  <inkml:trace contextRef="#ctx0" brushRef="#br0" timeOffset="-1">0 338,'0'1907,"0"-3692,0 4077,0-4706</inkml:trace>
  <inkml:trace contextRef="#ctx0" brushRef="#br0" timeOffset="-3">0 338,'0'2432,"0"-4864</inkml:trace>
  <inkml:trace contextRef="#ctx0" brushRef="#br0" timeOffset="-5">0 338,'0'2962,"0"-5924</inkml:trace>
  <inkml:trace contextRef="#ctx0" brushRef="#br0" timeOffset="-7">0 338,'0'136,"0"4290,0-4545,0-4324</inkml:trace>
  <inkml:trace contextRef="#ctx0" brushRef="#br0" timeOffset="-9">0 338,'0'4408,"0"-4535,0-4154</inkml:trace>
  <inkml:trace contextRef="#ctx0" brushRef="#br0" timeOffset="-11">0 338,'0'2666,"0"-5332</inkml:trace>
  <inkml:trace contextRef="#ctx0" brushRef="#br0" timeOffset="-14">0 338,'0'30,"0"217,0 67,0 59,0 52,0 5803,0-6391,0-29,0-75,0-3024,0 3483,0 9,0 78,0 76,0 67,0 5784,0-6395,0-16,0-69,0-3244,0 3666,0 30,0 80,0 74,0 63,0 5266,0-5874,0 9,0-68,0-3010,0 3424,0 18,0 72,0 68,0 3949</inkml:trace>
  <inkml:trace contextRef="#ctx0" brushRef="#br0" timeOffset="-4186.41">0 15595,'0'-1904,"0"3808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3:38.568"/>
    </inkml:context>
    <inkml:brush xml:id="br0">
      <inkml:brushProperty name="width" value="0.05" units="cm"/>
      <inkml:brushProperty name="height" value="0.05" units="cm"/>
      <inkml:brushProperty name="ignorePressure" value="1"/>
    </inkml:brush>
  </inkml:definitions>
  <inkml:trace contextRef="#ctx0" brushRef="#br0">0 222,'0'1462,"0"-1467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3:38.567"/>
    </inkml:context>
    <inkml:brush xml:id="br0">
      <inkml:brushProperty name="width" value="0.05" units="cm"/>
      <inkml:brushProperty name="height" value="0.05" units="cm"/>
      <inkml:brushProperty name="ignorePressure" value="1"/>
    </inkml:brush>
  </inkml:definitions>
  <inkml:trace contextRef="#ctx0" brushRef="#br0">0 461,'0'1445,"0"-1436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3:38.566"/>
    </inkml:context>
    <inkml:brush xml:id="br0">
      <inkml:brushProperty name="width" value="0.05" units="cm"/>
      <inkml:brushProperty name="height" value="0.05" units="cm"/>
      <inkml:brushProperty name="ignorePressure" value="1"/>
    </inkml:brush>
  </inkml:definitions>
  <inkml:trace contextRef="#ctx0" brushRef="#br0">0 605,'0'1665,"0"-3066,0 2277,0-1997,0 1968,0-780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3:38.564"/>
    </inkml:context>
    <inkml:brush xml:id="br0">
      <inkml:brushProperty name="width" value="0.05" units="cm"/>
      <inkml:brushProperty name="height" value="0.05" units="cm"/>
      <inkml:brushProperty name="ignorePressure" value="1"/>
    </inkml:brush>
  </inkml:definitions>
  <inkml:trace contextRef="#ctx0" brushRef="#br0">0 341,'0'1519,"0"-3170</inkml:trace>
  <inkml:trace contextRef="#ctx0" brushRef="#br0" timeOffset="1">0 209,'0'1285,"0"-2570</inkml:trace>
  <inkml:trace contextRef="#ctx0" brushRef="#br0" timeOffset="-1">0 209,'0'1940,"0"-3868,0 3845,0-3846</inkml:trace>
  <inkml:trace contextRef="#ctx0" brushRef="#br0" timeOffset="-3">0 209,'0'2104,"0"-4208</inkml:trace>
  <inkml:trace contextRef="#ctx0" brushRef="#br0" timeOffset="-5">0 209,'0'1798,"0"-1610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4:27.395"/>
    </inkml:context>
    <inkml:brush xml:id="br0">
      <inkml:brushProperty name="width" value="0.05" units="cm"/>
      <inkml:brushProperty name="height" value="0.05" units="cm"/>
      <inkml:brushProperty name="ignorePressure" value="1"/>
    </inkml:brush>
  </inkml:definitions>
  <inkml:trace contextRef="#ctx0" brushRef="#br0">2579 1,'2945'0,"-5500"0,7371 0,-12293 0,7170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4:33.925"/>
    </inkml:context>
    <inkml:brush xml:id="br0">
      <inkml:brushProperty name="width" value="0.05" units="cm"/>
      <inkml:brushProperty name="height" value="0.05" units="cm"/>
      <inkml:brushProperty name="ignorePressure" value="1"/>
    </inkml:brush>
  </inkml:definitions>
  <inkml:trace contextRef="#ctx0" brushRef="#br0">6518 1,'-1573'0,"4328"0,-5394 0,5498 0,-3014 0,-14 0,-67 0,-63 0,-6212 0,5961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5:07.545"/>
    </inkml:context>
    <inkml:brush xml:id="br0">
      <inkml:brushProperty name="width" value="0.35" units="cm"/>
      <inkml:brushProperty name="height" value="0.35" units="cm"/>
      <inkml:brushProperty name="ignorePressure" value="1"/>
    </inkml:brush>
  </inkml:definitions>
  <inkml:trace contextRef="#ctx0" brushRef="#br0">1 199,'0'0,"0"19,0 1265,0-2338,0 2059,0-2106,0 2173,0-2495,0 16426,0-15044,0 26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5:09.198"/>
    </inkml:context>
    <inkml:brush xml:id="br0">
      <inkml:brushProperty name="width" value="0.35" units="cm"/>
      <inkml:brushProperty name="height" value="0.35" units="cm"/>
      <inkml:brushProperty name="ignorePressure" value="1"/>
    </inkml:brush>
  </inkml:definitions>
  <inkml:trace contextRef="#ctx0" brushRef="#br0">1 0,'0'704,"0"-704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6:01.143"/>
    </inkml:context>
    <inkml:brush xml:id="br0">
      <inkml:brushProperty name="width" value="0.35" units="cm"/>
      <inkml:brushProperty name="height" value="0.35" units="cm"/>
      <inkml:brushProperty name="ignorePressure" value="1"/>
    </inkml:brush>
  </inkml:definitions>
  <inkml:trace contextRef="#ctx0" brushRef="#br0">380 0,'1471'0,"-3269"0</inkml:trace>
  <inkml:trace contextRef="#ctx0" brushRef="#br0" timeOffset="1">53 0,'33767'0,"-33763"0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8-04T18:16:01.142"/>
    </inkml:context>
    <inkml:brush xml:id="br0">
      <inkml:brushProperty name="width" value="0.35" units="cm"/>
      <inkml:brushProperty name="height" value="0.35" units="cm"/>
      <inkml:brushProperty name="ignorePressure" value="1"/>
    </inkml:brush>
  </inkml:definitions>
  <inkml:trace contextRef="#ctx0" brushRef="#br0">294 1,'33660'0,"-33660"0,0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E86A71-5769-41B2-A7B9-00B63510BDDA}" type="datetimeFigureOut">
              <a:rPr lang="en-IN" smtClean="0"/>
              <a:t>04-08-2026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D7E514-8C73-40B4-BF19-35B1B6D2B707}" type="slidenum">
              <a:rPr lang="en-IN" smtClean="0"/>
              <a:t>‹#›</a:t>
            </a:fld>
            <a:endParaRPr lang="en-IN"/>
          </a:p>
        </p:txBody>
      </p:sp>
    </p:spTree>
    <p:extLst>
      <p:ext uri="{BB962C8B-B14F-4D97-AF65-F5344CB8AC3E}">
        <p14:creationId xmlns:p14="http://schemas.microsoft.com/office/powerpoint/2010/main" val="2148713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D7E514-8C73-40B4-BF19-35B1B6D2B707}" type="slidenum">
              <a:rPr lang="en-IN" smtClean="0"/>
              <a:t>3</a:t>
            </a:fld>
            <a:endParaRPr lang="en-IN"/>
          </a:p>
        </p:txBody>
      </p:sp>
    </p:spTree>
    <p:extLst>
      <p:ext uri="{BB962C8B-B14F-4D97-AF65-F5344CB8AC3E}">
        <p14:creationId xmlns:p14="http://schemas.microsoft.com/office/powerpoint/2010/main" val="1205188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F197-A270-50F6-921E-26A1165810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ACE94E-D480-BF30-6A8D-11D953B4F3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067F02-BC62-F61D-CCC3-461A5B4D1AD9}"/>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5" name="Footer Placeholder 4">
            <a:extLst>
              <a:ext uri="{FF2B5EF4-FFF2-40B4-BE49-F238E27FC236}">
                <a16:creationId xmlns:a16="http://schemas.microsoft.com/office/drawing/2014/main" id="{556ED66D-0B64-293D-F9A2-92C212FE57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9EB59F-CFFF-20ED-0C6A-9817B7F76885}"/>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3328956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5B0D-FF09-E671-F07B-0F8698195F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26BB21-C95D-EF89-8788-AE31F04A28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634C79-ECB4-67F4-A694-F76B2E143F70}"/>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5" name="Footer Placeholder 4">
            <a:extLst>
              <a:ext uri="{FF2B5EF4-FFF2-40B4-BE49-F238E27FC236}">
                <a16:creationId xmlns:a16="http://schemas.microsoft.com/office/drawing/2014/main" id="{FD737501-5871-6D72-ED2B-BF64799E2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FA4D5B-466F-082B-4EBD-3CBE5844B0E3}"/>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732004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0AF6E-A4FB-9BE3-AA01-839D6FBE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7742B7E-7E26-C0F8-2384-4C0B00E166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A3F860-8127-B2D8-2E09-8005FE5FCB2E}"/>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5" name="Footer Placeholder 4">
            <a:extLst>
              <a:ext uri="{FF2B5EF4-FFF2-40B4-BE49-F238E27FC236}">
                <a16:creationId xmlns:a16="http://schemas.microsoft.com/office/drawing/2014/main" id="{F794B7E2-7097-62E2-01CD-6ECD56527C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CA1BDA-A334-E3BA-A107-BD7F5282A7F5}"/>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3441919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71564-4FF4-FE47-61A5-74DA409CF3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B23EB6-BD31-4FB7-BEDC-FFB2351A37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5A62AF-E7DA-EE67-19FD-77FE558F98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375FF8-32E4-4F2F-A09B-22FC6498FAE4}"/>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6" name="Footer Placeholder 5">
            <a:extLst>
              <a:ext uri="{FF2B5EF4-FFF2-40B4-BE49-F238E27FC236}">
                <a16:creationId xmlns:a16="http://schemas.microsoft.com/office/drawing/2014/main" id="{510332E4-F39A-7EA1-97D2-FD7399D60B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181BF1-9F3A-0F8F-7787-1DD6EEF960E6}"/>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2821768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9512C-9977-3CE0-46CF-8426594B30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D81A3F-C44E-2178-3F21-B03E23FA34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D73684-6DA1-8C03-6BD1-E75F4067D3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7B3D92-1723-2249-E4D2-0BE2F7047B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CB0F73-1F36-7B6A-CB9F-5A49F5B8B6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7BC301-AAEC-8FCB-759E-759A4090A3C1}"/>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8" name="Footer Placeholder 7">
            <a:extLst>
              <a:ext uri="{FF2B5EF4-FFF2-40B4-BE49-F238E27FC236}">
                <a16:creationId xmlns:a16="http://schemas.microsoft.com/office/drawing/2014/main" id="{9AFB7ECB-8113-B07F-0FAE-CAFDE233BE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FFA5EC-937C-73B0-449B-E2791D888992}"/>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371270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300B1-71B7-EC62-CE94-C17087FBC3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F999F3-AFA3-C0EE-7A8D-3A7B7F3A180E}"/>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4" name="Footer Placeholder 3">
            <a:extLst>
              <a:ext uri="{FF2B5EF4-FFF2-40B4-BE49-F238E27FC236}">
                <a16:creationId xmlns:a16="http://schemas.microsoft.com/office/drawing/2014/main" id="{1E564C53-8E95-7990-7D15-269E01040CB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B409922-C3FF-83BB-3F50-232E80C03B73}"/>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3813765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7C4B67-78E1-EAA6-D8C9-A3F555873B1D}"/>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3" name="Footer Placeholder 2">
            <a:extLst>
              <a:ext uri="{FF2B5EF4-FFF2-40B4-BE49-F238E27FC236}">
                <a16:creationId xmlns:a16="http://schemas.microsoft.com/office/drawing/2014/main" id="{7D2FCC88-99C2-C4C4-B9E6-45B9D2FE34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819314F-40C6-8F6D-5004-518D5BFDCE66}"/>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40062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68033-4662-5215-A7F1-5F4BDC04FB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EC0225-4195-9625-570A-4176B3E2A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3D6AA4-FE61-C3EF-D6A4-87C4944CD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F5260F-4A73-5B03-EF5C-CF5CDE922C39}"/>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6" name="Footer Placeholder 5">
            <a:extLst>
              <a:ext uri="{FF2B5EF4-FFF2-40B4-BE49-F238E27FC236}">
                <a16:creationId xmlns:a16="http://schemas.microsoft.com/office/drawing/2014/main" id="{2DFA9CDB-8EE3-5956-C883-57C9AEF7C8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15FC86-C4D9-437F-5FBB-715D89F43A13}"/>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3942400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D0F98-DD0E-8131-0C53-F5ED7419D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A55079-DEE7-CAE4-8C5A-B8E3CA49B4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F8F4DE92-198A-3B16-99BA-6F2B5F969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6A56C-2D90-B72A-742F-F5C9F3B5BC77}"/>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6" name="Footer Placeholder 5">
            <a:extLst>
              <a:ext uri="{FF2B5EF4-FFF2-40B4-BE49-F238E27FC236}">
                <a16:creationId xmlns:a16="http://schemas.microsoft.com/office/drawing/2014/main" id="{40DE7835-7ED3-71D7-6D74-22F9D86D0F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519A11-96B2-E735-7263-51CCF01ED964}"/>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1505490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6FFB3-258F-7765-68E1-D5996BD0C1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38CA88-4FFA-5F6B-D7AE-49CCDAB6EC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2CDF1F-D8D4-CB6A-D734-38069B59FC57}"/>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5" name="Footer Placeholder 4">
            <a:extLst>
              <a:ext uri="{FF2B5EF4-FFF2-40B4-BE49-F238E27FC236}">
                <a16:creationId xmlns:a16="http://schemas.microsoft.com/office/drawing/2014/main" id="{E1F28E7D-82B0-C714-C73A-02862F1571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1CBBB0-50CA-0D44-9E6C-05ECF37340C5}"/>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2955181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DC637A-352F-1123-D660-BF28E46302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2CC1C6-E640-B6EE-F534-C45ABF24C2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1C5248-A8E3-FAD1-FF5A-B7A852954732}"/>
              </a:ext>
            </a:extLst>
          </p:cNvPr>
          <p:cNvSpPr>
            <a:spLocks noGrp="1"/>
          </p:cNvSpPr>
          <p:nvPr>
            <p:ph type="dt" sz="half" idx="10"/>
          </p:nvPr>
        </p:nvSpPr>
        <p:spPr/>
        <p:txBody>
          <a:bodyPr/>
          <a:lstStyle/>
          <a:p>
            <a:fld id="{B25E10C1-9154-444B-A890-3DF604E1A512}" type="datetimeFigureOut">
              <a:rPr lang="en-IN" smtClean="0"/>
              <a:t>04-08-2026</a:t>
            </a:fld>
            <a:endParaRPr lang="en-IN"/>
          </a:p>
        </p:txBody>
      </p:sp>
      <p:sp>
        <p:nvSpPr>
          <p:cNvPr id="5" name="Footer Placeholder 4">
            <a:extLst>
              <a:ext uri="{FF2B5EF4-FFF2-40B4-BE49-F238E27FC236}">
                <a16:creationId xmlns:a16="http://schemas.microsoft.com/office/drawing/2014/main" id="{5DDB4778-1D6B-4E38-ADDE-85126B897C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91D502-DBF5-C5A0-343E-9DA953A8B334}"/>
              </a:ext>
            </a:extLst>
          </p:cNvPr>
          <p:cNvSpPr>
            <a:spLocks noGrp="1"/>
          </p:cNvSpPr>
          <p:nvPr>
            <p:ph type="sldNum" sz="quarter" idx="12"/>
          </p:nvPr>
        </p:nvSpPr>
        <p:spPr/>
        <p:txBody>
          <a:bodyPr/>
          <a:lstStyle/>
          <a:p>
            <a:fld id="{58B1B036-B152-498A-8481-C62B77839A5E}" type="slidenum">
              <a:rPr lang="en-IN" smtClean="0"/>
              <a:t>‹#›</a:t>
            </a:fld>
            <a:endParaRPr lang="en-IN"/>
          </a:p>
        </p:txBody>
      </p:sp>
    </p:spTree>
    <p:extLst>
      <p:ext uri="{BB962C8B-B14F-4D97-AF65-F5344CB8AC3E}">
        <p14:creationId xmlns:p14="http://schemas.microsoft.com/office/powerpoint/2010/main" val="1825223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03071D-1DFC-DF6C-9B83-6F02B6E7E2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81F7DE-202E-2227-61E2-3ABBFA1B95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812DF0-A55D-75FB-5746-FBA482D370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5E10C1-9154-444B-A890-3DF604E1A512}" type="datetimeFigureOut">
              <a:rPr lang="en-IN" smtClean="0"/>
              <a:t>04-08-2026</a:t>
            </a:fld>
            <a:endParaRPr lang="en-IN"/>
          </a:p>
        </p:txBody>
      </p:sp>
      <p:sp>
        <p:nvSpPr>
          <p:cNvPr id="5" name="Footer Placeholder 4">
            <a:extLst>
              <a:ext uri="{FF2B5EF4-FFF2-40B4-BE49-F238E27FC236}">
                <a16:creationId xmlns:a16="http://schemas.microsoft.com/office/drawing/2014/main" id="{D42C01BF-1338-39E7-0F39-F23B8FEBD4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0C8608B-FDDC-583C-B0C4-21CCF8BD0E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B1B036-B152-498A-8481-C62B77839A5E}" type="slidenum">
              <a:rPr lang="en-IN" smtClean="0"/>
              <a:t>‹#›</a:t>
            </a:fld>
            <a:endParaRPr lang="en-IN"/>
          </a:p>
        </p:txBody>
      </p:sp>
    </p:spTree>
    <p:extLst>
      <p:ext uri="{BB962C8B-B14F-4D97-AF65-F5344CB8AC3E}">
        <p14:creationId xmlns:p14="http://schemas.microsoft.com/office/powerpoint/2010/main" val="1271573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2.xml"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 Id="rId4" Type="http://schemas.openxmlformats.org/officeDocument/2006/relationships/image" Target="../media/image4.png" /></Relationships>
</file>

<file path=ppt/slides/_rels/slide5.xml.rels><?xml version="1.0" encoding="UTF-8" standalone="yes"?>
<Relationships xmlns="http://schemas.openxmlformats.org/package/2006/relationships"><Relationship Id="rId8" Type="http://schemas.openxmlformats.org/officeDocument/2006/relationships/customXml" Target="../ink/ink3.xml" /><Relationship Id="rId13" Type="http://schemas.openxmlformats.org/officeDocument/2006/relationships/image" Target="../media/image9.png" /><Relationship Id="rId18" Type="http://schemas.openxmlformats.org/officeDocument/2006/relationships/customXml" Target="../ink/ink8.xml" /><Relationship Id="rId26" Type="http://schemas.openxmlformats.org/officeDocument/2006/relationships/customXml" Target="../ink/ink12.xml" /><Relationship Id="rId39" Type="http://schemas.openxmlformats.org/officeDocument/2006/relationships/image" Target="../media/image22.png" /><Relationship Id="rId3" Type="http://schemas.openxmlformats.org/officeDocument/2006/relationships/image" Target="../media/image3.png" /><Relationship Id="rId21" Type="http://schemas.openxmlformats.org/officeDocument/2006/relationships/image" Target="../media/image13.png" /><Relationship Id="rId34" Type="http://schemas.openxmlformats.org/officeDocument/2006/relationships/customXml" Target="../ink/ink16.xml" /><Relationship Id="rId7" Type="http://schemas.openxmlformats.org/officeDocument/2006/relationships/image" Target="../media/image6.png" /><Relationship Id="rId12" Type="http://schemas.openxmlformats.org/officeDocument/2006/relationships/customXml" Target="../ink/ink5.xml" /><Relationship Id="rId17" Type="http://schemas.openxmlformats.org/officeDocument/2006/relationships/image" Target="../media/image11.png" /><Relationship Id="rId25" Type="http://schemas.openxmlformats.org/officeDocument/2006/relationships/image" Target="../media/image15.png" /><Relationship Id="rId33" Type="http://schemas.openxmlformats.org/officeDocument/2006/relationships/image" Target="../media/image19.png" /><Relationship Id="rId38" Type="http://schemas.openxmlformats.org/officeDocument/2006/relationships/customXml" Target="../ink/ink18.xml" /><Relationship Id="rId2" Type="http://schemas.openxmlformats.org/officeDocument/2006/relationships/image" Target="../media/image2.png" /><Relationship Id="rId16" Type="http://schemas.openxmlformats.org/officeDocument/2006/relationships/customXml" Target="../ink/ink7.xml" /><Relationship Id="rId20" Type="http://schemas.openxmlformats.org/officeDocument/2006/relationships/customXml" Target="../ink/ink9.xml" /><Relationship Id="rId29" Type="http://schemas.openxmlformats.org/officeDocument/2006/relationships/image" Target="../media/image17.png" /><Relationship Id="rId41" Type="http://schemas.openxmlformats.org/officeDocument/2006/relationships/image" Target="../media/image23.png" /><Relationship Id="rId1" Type="http://schemas.openxmlformats.org/officeDocument/2006/relationships/slideLayout" Target="../slideLayouts/slideLayout6.xml" /><Relationship Id="rId6" Type="http://schemas.openxmlformats.org/officeDocument/2006/relationships/customXml" Target="../ink/ink2.xml" /><Relationship Id="rId11" Type="http://schemas.openxmlformats.org/officeDocument/2006/relationships/image" Target="../media/image8.png" /><Relationship Id="rId24" Type="http://schemas.openxmlformats.org/officeDocument/2006/relationships/customXml" Target="../ink/ink11.xml" /><Relationship Id="rId32" Type="http://schemas.openxmlformats.org/officeDocument/2006/relationships/customXml" Target="../ink/ink15.xml" /><Relationship Id="rId37" Type="http://schemas.openxmlformats.org/officeDocument/2006/relationships/image" Target="../media/image21.png" /><Relationship Id="rId40" Type="http://schemas.openxmlformats.org/officeDocument/2006/relationships/customXml" Target="../ink/ink19.xml" /><Relationship Id="rId5" Type="http://schemas.openxmlformats.org/officeDocument/2006/relationships/image" Target="../media/image5.png" /><Relationship Id="rId15" Type="http://schemas.openxmlformats.org/officeDocument/2006/relationships/image" Target="../media/image10.png" /><Relationship Id="rId23" Type="http://schemas.openxmlformats.org/officeDocument/2006/relationships/image" Target="../media/image14.png" /><Relationship Id="rId28" Type="http://schemas.openxmlformats.org/officeDocument/2006/relationships/customXml" Target="../ink/ink13.xml" /><Relationship Id="rId36" Type="http://schemas.openxmlformats.org/officeDocument/2006/relationships/customXml" Target="../ink/ink17.xml" /><Relationship Id="rId10" Type="http://schemas.openxmlformats.org/officeDocument/2006/relationships/customXml" Target="../ink/ink4.xml" /><Relationship Id="rId19" Type="http://schemas.openxmlformats.org/officeDocument/2006/relationships/image" Target="../media/image12.png" /><Relationship Id="rId31" Type="http://schemas.openxmlformats.org/officeDocument/2006/relationships/image" Target="../media/image18.png" /><Relationship Id="rId4" Type="http://schemas.openxmlformats.org/officeDocument/2006/relationships/customXml" Target="../ink/ink1.xml" /><Relationship Id="rId9" Type="http://schemas.openxmlformats.org/officeDocument/2006/relationships/image" Target="../media/image7.png" /><Relationship Id="rId14" Type="http://schemas.openxmlformats.org/officeDocument/2006/relationships/customXml" Target="../ink/ink6.xml" /><Relationship Id="rId22" Type="http://schemas.openxmlformats.org/officeDocument/2006/relationships/customXml" Target="../ink/ink10.xml" /><Relationship Id="rId27" Type="http://schemas.openxmlformats.org/officeDocument/2006/relationships/image" Target="../media/image16.png" /><Relationship Id="rId30" Type="http://schemas.openxmlformats.org/officeDocument/2006/relationships/customXml" Target="../ink/ink14.xml" /><Relationship Id="rId35" Type="http://schemas.openxmlformats.org/officeDocument/2006/relationships/image" Target="../media/image20.png" /></Relationships>
</file>

<file path=ppt/slides/_rels/slide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 Id="rId4" Type="http://schemas.openxmlformats.org/officeDocument/2006/relationships/image" Target="../media/image5.jpeg" /></Relationships>
</file>

<file path=ppt/slides/_rels/slide1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 Id="rId4" Type="http://schemas.openxmlformats.org/officeDocument/2006/relationships/image" Target="../media/image6.jpeg" /></Relationships>
</file>

<file path=ppt/slides/_rels/slide1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 Id="rId4" Type="http://schemas.openxmlformats.org/officeDocument/2006/relationships/image" Target="../media/image7.jpeg" /></Relationships>
</file>

<file path=ppt/slides/_rels/slide1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hyperlink" Target="https://www.pexels.com/search/thank%20you/" TargetMode="External" /><Relationship Id="rId2" Type="http://schemas.openxmlformats.org/officeDocument/2006/relationships/image" Target="../media/image8.jpg" /><Relationship Id="rId1" Type="http://schemas.openxmlformats.org/officeDocument/2006/relationships/slideLayout" Target="../slideLayouts/slideLayout2.xml" /><Relationship Id="rId5" Type="http://schemas.openxmlformats.org/officeDocument/2006/relationships/image" Target="../media/image3.png" /><Relationship Id="rId4"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9BAAFFD-F796-33EE-D287-9978A0F4488B}"/>
              </a:ext>
            </a:extLst>
          </p:cNvPr>
          <p:cNvGrpSpPr/>
          <p:nvPr/>
        </p:nvGrpSpPr>
        <p:grpSpPr>
          <a:xfrm>
            <a:off x="264695" y="406846"/>
            <a:ext cx="11662610" cy="1431034"/>
            <a:chOff x="0" y="0"/>
            <a:chExt cx="24038219" cy="2888569"/>
          </a:xfrm>
        </p:grpSpPr>
        <p:sp>
          <p:nvSpPr>
            <p:cNvPr id="5" name="Freeform 3">
              <a:extLst>
                <a:ext uri="{FF2B5EF4-FFF2-40B4-BE49-F238E27FC236}">
                  <a16:creationId xmlns:a16="http://schemas.microsoft.com/office/drawing/2014/main" id="{3D32C42E-8E7B-0053-D7D3-7A6353B96485}"/>
                </a:ext>
              </a:extLst>
            </p:cNvPr>
            <p:cNvSpPr/>
            <p:nvPr/>
          </p:nvSpPr>
          <p:spPr>
            <a:xfrm>
              <a:off x="0" y="0"/>
              <a:ext cx="24038179" cy="2888615"/>
            </a:xfrm>
            <a:custGeom>
              <a:avLst/>
              <a:gdLst/>
              <a:ahLst/>
              <a:cxnLst/>
              <a:rect l="l" t="t" r="r" b="b"/>
              <a:pathLst>
                <a:path w="24038179" h="2888615">
                  <a:moveTo>
                    <a:pt x="0" y="0"/>
                  </a:moveTo>
                  <a:lnTo>
                    <a:pt x="24038179" y="0"/>
                  </a:lnTo>
                  <a:lnTo>
                    <a:pt x="24038179" y="2888615"/>
                  </a:lnTo>
                  <a:lnTo>
                    <a:pt x="0" y="2888615"/>
                  </a:lnTo>
                  <a:lnTo>
                    <a:pt x="0" y="0"/>
                  </a:lnTo>
                  <a:close/>
                </a:path>
              </a:pathLst>
            </a:custGeom>
            <a:blipFill>
              <a:blip r:embed="rId2"/>
              <a:stretch>
                <a:fillRect t="-3628" b="-3626"/>
              </a:stretch>
            </a:blipFill>
          </p:spPr>
          <p:txBody>
            <a:bodyPr/>
            <a:lstStyle/>
            <a:p>
              <a:endParaRPr lang="en-IN"/>
            </a:p>
          </p:txBody>
        </p:sp>
      </p:grpSp>
      <p:sp>
        <p:nvSpPr>
          <p:cNvPr id="8" name="Subtitle 7">
            <a:extLst>
              <a:ext uri="{FF2B5EF4-FFF2-40B4-BE49-F238E27FC236}">
                <a16:creationId xmlns:a16="http://schemas.microsoft.com/office/drawing/2014/main" id="{00FCB25F-5B00-6332-4565-524DF3D462F6}"/>
              </a:ext>
            </a:extLst>
          </p:cNvPr>
          <p:cNvSpPr>
            <a:spLocks noGrp="1"/>
          </p:cNvSpPr>
          <p:nvPr>
            <p:ph type="subTitle" idx="1"/>
          </p:nvPr>
        </p:nvSpPr>
        <p:spPr/>
        <p:txBody>
          <a:bodyPr/>
          <a:lstStyle/>
          <a:p>
            <a:r>
              <a:rPr lang="en-US" b="1" dirty="0">
                <a:solidFill>
                  <a:schemeClr val="accent4">
                    <a:lumMod val="50000"/>
                  </a:schemeClr>
                </a:solidFill>
                <a:latin typeface="Times New Roman" panose="02020603050405020304" pitchFamily="18" charset="0"/>
                <a:cs typeface="Times New Roman" panose="02020603050405020304" pitchFamily="18" charset="0"/>
              </a:rPr>
              <a:t>CSA5802 - DEVSECOPS ENGINEERING AND APPLICATION SECURITY</a:t>
            </a:r>
          </a:p>
          <a:p>
            <a:endParaRPr lang="en-IN" dirty="0"/>
          </a:p>
        </p:txBody>
      </p:sp>
      <p:sp>
        <p:nvSpPr>
          <p:cNvPr id="10" name="TextBox 9">
            <a:extLst>
              <a:ext uri="{FF2B5EF4-FFF2-40B4-BE49-F238E27FC236}">
                <a16:creationId xmlns:a16="http://schemas.microsoft.com/office/drawing/2014/main" id="{18F74CC0-A8E1-A3E3-0E86-C57F9176308B}"/>
              </a:ext>
            </a:extLst>
          </p:cNvPr>
          <p:cNvSpPr txBox="1"/>
          <p:nvPr/>
        </p:nvSpPr>
        <p:spPr>
          <a:xfrm>
            <a:off x="2342606" y="2039795"/>
            <a:ext cx="8325394" cy="1216167"/>
          </a:xfrm>
          <a:prstGeom prst="rect">
            <a:avLst/>
          </a:prstGeom>
          <a:noFill/>
        </p:spPr>
        <p:txBody>
          <a:bodyPr wrap="square">
            <a:spAutoFit/>
          </a:bodyPr>
          <a:lstStyle/>
          <a:p>
            <a:pPr marL="0" indent="0">
              <a:lnSpc>
                <a:spcPct val="110000"/>
              </a:lnSpc>
              <a:buNone/>
            </a:pPr>
            <a:r>
              <a:rPr lang="en-US" sz="3400" b="1" dirty="0">
                <a:solidFill>
                  <a:schemeClr val="accent4">
                    <a:lumMod val="50000"/>
                  </a:schemeClr>
                </a:solidFill>
                <a:latin typeface="Times New Roman" pitchFamily="34" charset="0"/>
                <a:ea typeface="Times New Roman" pitchFamily="34" charset="-122"/>
                <a:cs typeface="Times New Roman" pitchFamily="34" charset="-120"/>
              </a:rPr>
              <a:t>AI-Powered Vulnerability Detection and Secure Code Review Platform</a:t>
            </a:r>
            <a:endParaRPr lang="en-US" sz="3400" dirty="0">
              <a:solidFill>
                <a:schemeClr val="accent4">
                  <a:lumMod val="50000"/>
                </a:schemeClr>
              </a:solidFill>
            </a:endParaRPr>
          </a:p>
        </p:txBody>
      </p:sp>
      <p:sp>
        <p:nvSpPr>
          <p:cNvPr id="12" name="TextBox 11">
            <a:extLst>
              <a:ext uri="{FF2B5EF4-FFF2-40B4-BE49-F238E27FC236}">
                <a16:creationId xmlns:a16="http://schemas.microsoft.com/office/drawing/2014/main" id="{306314AD-9B4D-6C73-EBAF-277CAD1E901A}"/>
              </a:ext>
            </a:extLst>
          </p:cNvPr>
          <p:cNvSpPr txBox="1"/>
          <p:nvPr/>
        </p:nvSpPr>
        <p:spPr>
          <a:xfrm>
            <a:off x="409303" y="4489355"/>
            <a:ext cx="6096000" cy="369332"/>
          </a:xfrm>
          <a:prstGeom prst="rect">
            <a:avLst/>
          </a:prstGeom>
          <a:noFill/>
        </p:spPr>
        <p:txBody>
          <a:bodyPr wrap="square">
            <a:spAutoFit/>
          </a:bodyPr>
          <a:lstStyle/>
          <a:p>
            <a:pPr marL="0" indent="0">
              <a:buNone/>
            </a:pPr>
            <a:r>
              <a:rPr lang="en-US" sz="1800" b="1" kern="0" spc="100" dirty="0">
                <a:solidFill>
                  <a:schemeClr val="accent4">
                    <a:lumMod val="50000"/>
                  </a:schemeClr>
                </a:solidFill>
                <a:latin typeface="Times New Roman" pitchFamily="34" charset="0"/>
                <a:ea typeface="Times New Roman" pitchFamily="34" charset="-122"/>
                <a:cs typeface="Times New Roman" pitchFamily="34" charset="-120"/>
              </a:rPr>
              <a:t>TEAM MEMBERS</a:t>
            </a:r>
            <a:endParaRPr lang="en-US" sz="1800" dirty="0">
              <a:solidFill>
                <a:schemeClr val="accent4">
                  <a:lumMod val="50000"/>
                </a:schemeClr>
              </a:solidFill>
            </a:endParaRPr>
          </a:p>
        </p:txBody>
      </p:sp>
      <p:sp>
        <p:nvSpPr>
          <p:cNvPr id="14" name="TextBox 13">
            <a:extLst>
              <a:ext uri="{FF2B5EF4-FFF2-40B4-BE49-F238E27FC236}">
                <a16:creationId xmlns:a16="http://schemas.microsoft.com/office/drawing/2014/main" id="{A879665F-92F1-D4C2-BE1E-D54E7A113A31}"/>
              </a:ext>
            </a:extLst>
          </p:cNvPr>
          <p:cNvSpPr txBox="1"/>
          <p:nvPr/>
        </p:nvSpPr>
        <p:spPr>
          <a:xfrm>
            <a:off x="264695" y="4858687"/>
            <a:ext cx="6096000" cy="1894621"/>
          </a:xfrm>
          <a:prstGeom prst="rect">
            <a:avLst/>
          </a:prstGeom>
          <a:noFill/>
        </p:spPr>
        <p:txBody>
          <a:bodyPr wrap="square">
            <a:spAutoFit/>
          </a:bodyPr>
          <a:lstStyle/>
          <a:p>
            <a:pPr>
              <a:lnSpc>
                <a:spcPct val="150000"/>
              </a:lnSpc>
            </a:pPr>
            <a:r>
              <a:rPr lang="en-US" sz="2000" b="1" dirty="0">
                <a:solidFill>
                  <a:schemeClr val="accent4">
                    <a:lumMod val="50000"/>
                  </a:schemeClr>
                </a:solidFill>
              </a:rPr>
              <a:t>Krithika M ( 192521385)</a:t>
            </a:r>
          </a:p>
          <a:p>
            <a:pPr>
              <a:lnSpc>
                <a:spcPct val="150000"/>
              </a:lnSpc>
            </a:pPr>
            <a:r>
              <a:rPr lang="en-US" sz="2000" b="1" dirty="0">
                <a:solidFill>
                  <a:schemeClr val="accent4">
                    <a:lumMod val="50000"/>
                  </a:schemeClr>
                </a:solidFill>
              </a:rPr>
              <a:t>Prathiksha SN (192565090)</a:t>
            </a:r>
          </a:p>
          <a:p>
            <a:pPr>
              <a:lnSpc>
                <a:spcPct val="150000"/>
              </a:lnSpc>
            </a:pPr>
            <a:r>
              <a:rPr lang="en-US" sz="2000" b="1" dirty="0">
                <a:solidFill>
                  <a:schemeClr val="accent4">
                    <a:lumMod val="50000"/>
                  </a:schemeClr>
                </a:solidFill>
              </a:rPr>
              <a:t>Shreya V (192565018)</a:t>
            </a:r>
          </a:p>
          <a:p>
            <a:pPr>
              <a:lnSpc>
                <a:spcPct val="150000"/>
              </a:lnSpc>
            </a:pPr>
            <a:r>
              <a:rPr lang="en-US" sz="2000" b="1" dirty="0">
                <a:solidFill>
                  <a:schemeClr val="accent4">
                    <a:lumMod val="50000"/>
                  </a:schemeClr>
                </a:solidFill>
              </a:rPr>
              <a:t>Sri Janani B( 192421036</a:t>
            </a:r>
            <a:r>
              <a:rPr lang="en-US" sz="2000" dirty="0">
                <a:solidFill>
                  <a:schemeClr val="accent4">
                    <a:lumMod val="50000"/>
                  </a:schemeClr>
                </a:solidFill>
              </a:rPr>
              <a:t>)</a:t>
            </a:r>
            <a:endParaRPr lang="en-IN" sz="2000" dirty="0">
              <a:solidFill>
                <a:schemeClr val="accent4">
                  <a:lumMod val="50000"/>
                </a:schemeClr>
              </a:solidFill>
            </a:endParaRPr>
          </a:p>
        </p:txBody>
      </p:sp>
    </p:spTree>
    <p:extLst>
      <p:ext uri="{BB962C8B-B14F-4D97-AF65-F5344CB8AC3E}">
        <p14:creationId xmlns:p14="http://schemas.microsoft.com/office/powerpoint/2010/main" val="932218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70874-3F4D-364C-2AA0-916CA80F2BCD}"/>
              </a:ext>
            </a:extLst>
          </p:cNvPr>
          <p:cNvSpPr>
            <a:spLocks noGrp="1"/>
          </p:cNvSpPr>
          <p:nvPr>
            <p:ph type="title"/>
          </p:nvPr>
        </p:nvSpPr>
        <p:spPr>
          <a:xfrm>
            <a:off x="2068285" y="431629"/>
            <a:ext cx="7620001" cy="982412"/>
          </a:xfrm>
        </p:spPr>
        <p:txBody>
          <a:bodyPr/>
          <a:lstStyle/>
          <a:p>
            <a:r>
              <a:rPr lang="en-IN" dirty="0"/>
              <a:t>                    </a:t>
            </a:r>
            <a:r>
              <a:rPr lang="en-IN" b="1" dirty="0">
                <a:solidFill>
                  <a:schemeClr val="accent4">
                    <a:lumMod val="50000"/>
                  </a:schemeClr>
                </a:solidFill>
              </a:rPr>
              <a:t>INTRODUCTION</a:t>
            </a:r>
          </a:p>
        </p:txBody>
      </p:sp>
      <p:sp>
        <p:nvSpPr>
          <p:cNvPr id="3" name="Content Placeholder 2">
            <a:extLst>
              <a:ext uri="{FF2B5EF4-FFF2-40B4-BE49-F238E27FC236}">
                <a16:creationId xmlns:a16="http://schemas.microsoft.com/office/drawing/2014/main" id="{F428AE69-3799-F592-EE36-77B285AF4AF8}"/>
              </a:ext>
            </a:extLst>
          </p:cNvPr>
          <p:cNvSpPr>
            <a:spLocks noGrp="1"/>
          </p:cNvSpPr>
          <p:nvPr>
            <p:ph idx="1"/>
          </p:nvPr>
        </p:nvSpPr>
        <p:spPr>
          <a:xfrm>
            <a:off x="242179" y="1558836"/>
            <a:ext cx="11688563" cy="4545874"/>
          </a:xfrm>
        </p:spPr>
        <p:txBody>
          <a:bodyPr>
            <a:noAutofit/>
          </a:bodyPr>
          <a:lstStyle/>
          <a:p>
            <a:pPr algn="just">
              <a:lnSpc>
                <a:spcPct val="150000"/>
              </a:lnSpc>
            </a:pPr>
            <a:r>
              <a:rPr lang="en-US" sz="2400" dirty="0">
                <a:latin typeface="Arial" panose="020B0604020202020204" pitchFamily="34" charset="0"/>
                <a:cs typeface="Arial" panose="020B0604020202020204" pitchFamily="34" charset="0"/>
              </a:rPr>
              <a:t>Modern software applications are increasingly vulnerable to cyber threats due to insecure coding practices and rapidly evolving attack techniques.</a:t>
            </a:r>
          </a:p>
          <a:p>
            <a:pPr algn="just">
              <a:lnSpc>
                <a:spcPct val="150000"/>
              </a:lnSpc>
            </a:pPr>
            <a:r>
              <a:rPr lang="en-US" sz="2400" dirty="0">
                <a:latin typeface="Arial" panose="020B0604020202020204" pitchFamily="34" charset="0"/>
                <a:cs typeface="Arial" panose="020B0604020202020204" pitchFamily="34" charset="0"/>
              </a:rPr>
              <a:t>Manual security reviews are time-consuming, error-prone, and difficult to perform consistently for large software projects.</a:t>
            </a:r>
          </a:p>
          <a:p>
            <a:pPr algn="just">
              <a:lnSpc>
                <a:spcPct val="150000"/>
              </a:lnSpc>
            </a:pPr>
            <a:r>
              <a:rPr lang="en-US" sz="2400" dirty="0">
                <a:latin typeface="Arial" panose="020B0604020202020204" pitchFamily="34" charset="0"/>
                <a:cs typeface="Arial" panose="020B0604020202020204" pitchFamily="34" charset="0"/>
              </a:rPr>
              <a:t>DevDeployShield is an AI-powered platform designed to automate vulnerability detection and secure code review before deployment.</a:t>
            </a:r>
          </a:p>
          <a:p>
            <a:pPr algn="just">
              <a:lnSpc>
                <a:spcPct val="150000"/>
              </a:lnSpc>
            </a:pPr>
            <a:r>
              <a:rPr lang="en-US" sz="2400" dirty="0">
                <a:latin typeface="Arial" panose="020B0604020202020204" pitchFamily="34" charset="0"/>
                <a:cs typeface="Arial" panose="020B0604020202020204" pitchFamily="34" charset="0"/>
              </a:rPr>
              <a:t>The platform enables developers to upload project files, analyze source code, identify security weaknesses, and generate intelligent recommendations.</a:t>
            </a:r>
          </a:p>
        </p:txBody>
      </p:sp>
      <p:pic>
        <p:nvPicPr>
          <p:cNvPr id="4" name="Picture 3">
            <a:extLst>
              <a:ext uri="{FF2B5EF4-FFF2-40B4-BE49-F238E27FC236}">
                <a16:creationId xmlns:a16="http://schemas.microsoft.com/office/drawing/2014/main" id="{373A7853-75AE-817B-609A-B70661E790AF}"/>
              </a:ext>
            </a:extLst>
          </p:cNvPr>
          <p:cNvPicPr>
            <a:picLocks noChangeAspect="1"/>
          </p:cNvPicPr>
          <p:nvPr/>
        </p:nvPicPr>
        <p:blipFill>
          <a:blip r:embed="rId2"/>
          <a:stretch>
            <a:fillRect/>
          </a:stretch>
        </p:blipFill>
        <p:spPr>
          <a:xfrm>
            <a:off x="80560" y="0"/>
            <a:ext cx="1412798" cy="1288473"/>
          </a:xfrm>
          <a:prstGeom prst="rect">
            <a:avLst/>
          </a:prstGeom>
        </p:spPr>
      </p:pic>
      <p:grpSp>
        <p:nvGrpSpPr>
          <p:cNvPr id="5" name="Group 5">
            <a:extLst>
              <a:ext uri="{FF2B5EF4-FFF2-40B4-BE49-F238E27FC236}">
                <a16:creationId xmlns:a16="http://schemas.microsoft.com/office/drawing/2014/main" id="{DD26F46C-E874-CD1E-3447-587864725FE8}"/>
              </a:ext>
            </a:extLst>
          </p:cNvPr>
          <p:cNvGrpSpPr/>
          <p:nvPr/>
        </p:nvGrpSpPr>
        <p:grpSpPr>
          <a:xfrm>
            <a:off x="10596161" y="-8847"/>
            <a:ext cx="1595840" cy="1422888"/>
            <a:chOff x="-1" y="323175"/>
            <a:chExt cx="2097151" cy="2097151"/>
          </a:xfrm>
        </p:grpSpPr>
        <p:sp>
          <p:nvSpPr>
            <p:cNvPr id="6" name="Freeform 6">
              <a:extLst>
                <a:ext uri="{FF2B5EF4-FFF2-40B4-BE49-F238E27FC236}">
                  <a16:creationId xmlns:a16="http://schemas.microsoft.com/office/drawing/2014/main" id="{54A5B2EC-AD5D-0C23-2462-818BF0908B2F}"/>
                </a:ext>
              </a:extLst>
            </p:cNvPr>
            <p:cNvSpPr/>
            <p:nvPr/>
          </p:nvSpPr>
          <p:spPr>
            <a:xfrm>
              <a:off x="-1" y="323175"/>
              <a:ext cx="2097151" cy="2097151"/>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grpSp>
    </p:spTree>
    <p:extLst>
      <p:ext uri="{BB962C8B-B14F-4D97-AF65-F5344CB8AC3E}">
        <p14:creationId xmlns:p14="http://schemas.microsoft.com/office/powerpoint/2010/main" val="3843928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4E43-1FD9-8C1E-E466-7CEA8AD52B94}"/>
              </a:ext>
            </a:extLst>
          </p:cNvPr>
          <p:cNvSpPr>
            <a:spLocks noGrp="1"/>
          </p:cNvSpPr>
          <p:nvPr>
            <p:ph type="title"/>
          </p:nvPr>
        </p:nvSpPr>
        <p:spPr>
          <a:xfrm>
            <a:off x="1412798" y="283065"/>
            <a:ext cx="8635999" cy="498474"/>
          </a:xfrm>
        </p:spPr>
        <p:txBody>
          <a:bodyPr>
            <a:normAutofit fontScale="90000"/>
          </a:bodyPr>
          <a:lstStyle/>
          <a:p>
            <a:r>
              <a:rPr lang="en-IN" dirty="0"/>
              <a:t>                    </a:t>
            </a:r>
            <a:r>
              <a:rPr lang="en-IN" b="1" dirty="0">
                <a:solidFill>
                  <a:srgbClr val="7030A0"/>
                </a:solidFill>
              </a:rPr>
              <a:t>PRROBLEM STATEMENT</a:t>
            </a:r>
          </a:p>
        </p:txBody>
      </p:sp>
      <p:pic>
        <p:nvPicPr>
          <p:cNvPr id="6" name="Picture 5">
            <a:extLst>
              <a:ext uri="{FF2B5EF4-FFF2-40B4-BE49-F238E27FC236}">
                <a16:creationId xmlns:a16="http://schemas.microsoft.com/office/drawing/2014/main" id="{2FDF859B-0653-B3C0-ABB2-88D3812FFD01}"/>
              </a:ext>
            </a:extLst>
          </p:cNvPr>
          <p:cNvPicPr>
            <a:picLocks noChangeAspect="1"/>
          </p:cNvPicPr>
          <p:nvPr/>
        </p:nvPicPr>
        <p:blipFill>
          <a:blip r:embed="rId3"/>
          <a:stretch>
            <a:fillRect/>
          </a:stretch>
        </p:blipFill>
        <p:spPr>
          <a:xfrm>
            <a:off x="0" y="0"/>
            <a:ext cx="1412798" cy="1042833"/>
          </a:xfrm>
          <a:prstGeom prst="rect">
            <a:avLst/>
          </a:prstGeom>
        </p:spPr>
      </p:pic>
      <p:grpSp>
        <p:nvGrpSpPr>
          <p:cNvPr id="8" name="Group 5">
            <a:extLst>
              <a:ext uri="{FF2B5EF4-FFF2-40B4-BE49-F238E27FC236}">
                <a16:creationId xmlns:a16="http://schemas.microsoft.com/office/drawing/2014/main" id="{38EB3F3A-60E5-6648-F130-799E9BFAC5DD}"/>
              </a:ext>
            </a:extLst>
          </p:cNvPr>
          <p:cNvGrpSpPr/>
          <p:nvPr/>
        </p:nvGrpSpPr>
        <p:grpSpPr>
          <a:xfrm>
            <a:off x="10727962" y="0"/>
            <a:ext cx="1464038" cy="1042833"/>
            <a:chOff x="-1" y="323175"/>
            <a:chExt cx="2097151" cy="2097151"/>
          </a:xfrm>
        </p:grpSpPr>
        <p:sp>
          <p:nvSpPr>
            <p:cNvPr id="9" name="Freeform 6">
              <a:extLst>
                <a:ext uri="{FF2B5EF4-FFF2-40B4-BE49-F238E27FC236}">
                  <a16:creationId xmlns:a16="http://schemas.microsoft.com/office/drawing/2014/main" id="{22D0124B-F8D5-7067-8C4B-E139155A54BF}"/>
                </a:ext>
              </a:extLst>
            </p:cNvPr>
            <p:cNvSpPr/>
            <p:nvPr/>
          </p:nvSpPr>
          <p:spPr>
            <a:xfrm>
              <a:off x="-1" y="323175"/>
              <a:ext cx="2097151" cy="2097151"/>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4"/>
              <a:stretch>
                <a:fillRect/>
              </a:stretch>
            </a:blipFill>
          </p:spPr>
          <p:txBody>
            <a:bodyPr/>
            <a:lstStyle/>
            <a:p>
              <a:endParaRPr lang="en-IN"/>
            </a:p>
          </p:txBody>
        </p:sp>
      </p:grpSp>
      <p:sp>
        <p:nvSpPr>
          <p:cNvPr id="5" name="Content Placeholder 4">
            <a:extLst>
              <a:ext uri="{FF2B5EF4-FFF2-40B4-BE49-F238E27FC236}">
                <a16:creationId xmlns:a16="http://schemas.microsoft.com/office/drawing/2014/main" id="{95F632C7-689B-F630-CD27-58EFEAD86E51}"/>
              </a:ext>
            </a:extLst>
          </p:cNvPr>
          <p:cNvSpPr>
            <a:spLocks noGrp="1"/>
          </p:cNvSpPr>
          <p:nvPr>
            <p:ph idx="1"/>
          </p:nvPr>
        </p:nvSpPr>
        <p:spPr>
          <a:xfrm>
            <a:off x="131801" y="863600"/>
            <a:ext cx="12060199" cy="3411670"/>
          </a:xfrm>
        </p:spPr>
        <p:txBody>
          <a:bodyPr>
            <a:noAutofit/>
          </a:bodyPr>
          <a:lstStyle/>
          <a:p>
            <a:pPr>
              <a:lnSpc>
                <a:spcPct val="150000"/>
              </a:lnSpc>
            </a:pPr>
            <a:r>
              <a:rPr lang="en-US" sz="2400" dirty="0">
                <a:latin typeface="Arial" panose="020B0604020202020204" pitchFamily="34" charset="0"/>
                <a:cs typeface="Arial" panose="020B0604020202020204" pitchFamily="34" charset="0"/>
              </a:rPr>
              <a:t>Many developers deploy applications without performing comprehensive security analysis.</a:t>
            </a:r>
          </a:p>
          <a:p>
            <a:pPr>
              <a:lnSpc>
                <a:spcPct val="150000"/>
              </a:lnSpc>
            </a:pPr>
            <a:r>
              <a:rPr lang="en-US" sz="2400" dirty="0">
                <a:latin typeface="Arial" panose="020B0604020202020204" pitchFamily="34" charset="0"/>
                <a:cs typeface="Arial" panose="020B0604020202020204" pitchFamily="34" charset="0"/>
              </a:rPr>
              <a:t>Existing manual code review processes require significant time and experienced security professionals.</a:t>
            </a:r>
          </a:p>
          <a:p>
            <a:pPr>
              <a:lnSpc>
                <a:spcPct val="150000"/>
              </a:lnSpc>
            </a:pPr>
            <a:r>
              <a:rPr lang="en-US" sz="2400" dirty="0">
                <a:latin typeface="Arial" panose="020B0604020202020204" pitchFamily="34" charset="0"/>
                <a:cs typeface="Arial" panose="020B0604020202020204" pitchFamily="34" charset="0"/>
              </a:rPr>
              <a:t>Security vulnerabilities such as hardcoded credentials, SQL Injection risks, weak configurations, and outdated dependencies often remain undetected.</a:t>
            </a:r>
          </a:p>
          <a:p>
            <a:pPr>
              <a:lnSpc>
                <a:spcPct val="150000"/>
              </a:lnSpc>
            </a:pPr>
            <a:r>
              <a:rPr lang="en-US" sz="2400" dirty="0">
                <a:latin typeface="Arial" panose="020B0604020202020204" pitchFamily="34" charset="0"/>
                <a:cs typeface="Arial" panose="020B0604020202020204" pitchFamily="34" charset="0"/>
              </a:rPr>
              <a:t>Traditional vulnerability assessment tools are complex and may not provide developer-friendly recommendations.</a:t>
            </a:r>
          </a:p>
          <a:p>
            <a:pPr>
              <a:lnSpc>
                <a:spcPct val="150000"/>
              </a:lnSpc>
            </a:pPr>
            <a:r>
              <a:rPr lang="en-US" sz="2400" dirty="0">
                <a:latin typeface="Arial" panose="020B0604020202020204" pitchFamily="34" charset="0"/>
                <a:cs typeface="Arial" panose="020B0604020202020204" pitchFamily="34" charset="0"/>
              </a:rPr>
              <a:t>There is a need for an intelligent automated platform that can quickly detect vulnerabilities and provide actionable security improvements before deployment.</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9742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A1112-A7EA-AC09-584A-453650D6965F}"/>
              </a:ext>
            </a:extLst>
          </p:cNvPr>
          <p:cNvSpPr>
            <a:spLocks noGrp="1"/>
          </p:cNvSpPr>
          <p:nvPr>
            <p:ph type="title"/>
          </p:nvPr>
        </p:nvSpPr>
        <p:spPr>
          <a:xfrm>
            <a:off x="1968138" y="390968"/>
            <a:ext cx="7733212" cy="793398"/>
          </a:xfrm>
        </p:spPr>
        <p:txBody>
          <a:bodyPr>
            <a:normAutofit/>
          </a:bodyPr>
          <a:lstStyle/>
          <a:p>
            <a:r>
              <a:rPr lang="en-IN" dirty="0"/>
              <a:t>                        </a:t>
            </a:r>
            <a:r>
              <a:rPr lang="en-IN" b="1" dirty="0">
                <a:solidFill>
                  <a:srgbClr val="7030A0"/>
                </a:solidFill>
              </a:rPr>
              <a:t>OBJECTIVE</a:t>
            </a:r>
          </a:p>
        </p:txBody>
      </p:sp>
      <p:pic>
        <p:nvPicPr>
          <p:cNvPr id="4" name="Picture 3">
            <a:extLst>
              <a:ext uri="{FF2B5EF4-FFF2-40B4-BE49-F238E27FC236}">
                <a16:creationId xmlns:a16="http://schemas.microsoft.com/office/drawing/2014/main" id="{BCFD8FA3-E066-F81A-9B3B-37B6E22DE3F2}"/>
              </a:ext>
            </a:extLst>
          </p:cNvPr>
          <p:cNvPicPr>
            <a:picLocks noChangeAspect="1"/>
          </p:cNvPicPr>
          <p:nvPr/>
        </p:nvPicPr>
        <p:blipFill>
          <a:blip r:embed="rId2"/>
          <a:stretch>
            <a:fillRect/>
          </a:stretch>
        </p:blipFill>
        <p:spPr>
          <a:xfrm>
            <a:off x="0" y="-8847"/>
            <a:ext cx="1412798" cy="1288473"/>
          </a:xfrm>
          <a:prstGeom prst="rect">
            <a:avLst/>
          </a:prstGeom>
        </p:spPr>
      </p:pic>
      <p:sp>
        <p:nvSpPr>
          <p:cNvPr id="5" name="Freeform 6">
            <a:extLst>
              <a:ext uri="{FF2B5EF4-FFF2-40B4-BE49-F238E27FC236}">
                <a16:creationId xmlns:a16="http://schemas.microsoft.com/office/drawing/2014/main" id="{77888250-A699-DAF4-BF84-8D13F6F961A0}"/>
              </a:ext>
            </a:extLst>
          </p:cNvPr>
          <p:cNvSpPr/>
          <p:nvPr/>
        </p:nvSpPr>
        <p:spPr>
          <a:xfrm>
            <a:off x="10596160" y="0"/>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sp>
        <p:nvSpPr>
          <p:cNvPr id="7" name="Content Placeholder 6">
            <a:extLst>
              <a:ext uri="{FF2B5EF4-FFF2-40B4-BE49-F238E27FC236}">
                <a16:creationId xmlns:a16="http://schemas.microsoft.com/office/drawing/2014/main" id="{99F53D7D-A32D-CF4A-047D-6B1A4AFBCCCF}"/>
              </a:ext>
            </a:extLst>
          </p:cNvPr>
          <p:cNvSpPr>
            <a:spLocks noGrp="1"/>
          </p:cNvSpPr>
          <p:nvPr>
            <p:ph idx="1"/>
          </p:nvPr>
        </p:nvSpPr>
        <p:spPr>
          <a:xfrm>
            <a:off x="80560" y="1184366"/>
            <a:ext cx="8540926" cy="5930537"/>
          </a:xfrm>
        </p:spPr>
        <p:txBody>
          <a:bodyPr>
            <a:normAutofit fontScale="25000" lnSpcReduction="20000"/>
          </a:bodyPr>
          <a:lstStyle/>
          <a:p>
            <a:pPr>
              <a:lnSpc>
                <a:spcPct val="170000"/>
              </a:lnSpc>
            </a:pPr>
            <a:r>
              <a:rPr lang="en-US" sz="8000" dirty="0">
                <a:latin typeface="Arial" panose="020B0604020202020204" pitchFamily="34" charset="0"/>
                <a:cs typeface="Arial" panose="020B0604020202020204" pitchFamily="34" charset="0"/>
              </a:rPr>
              <a:t>To develop an AI-powered secure code review platform that automatically detects vulnerabilities and improves application security before deployment.</a:t>
            </a:r>
          </a:p>
          <a:p>
            <a:pPr>
              <a:lnSpc>
                <a:spcPct val="170000"/>
              </a:lnSpc>
            </a:pPr>
            <a:r>
              <a:rPr lang="en-US" sz="8000" dirty="0">
                <a:latin typeface="Arial" panose="020B0604020202020204" pitchFamily="34" charset="0"/>
                <a:cs typeface="Arial" panose="020B0604020202020204" pitchFamily="34" charset="0"/>
              </a:rPr>
              <a:t>Upload and validate project files securely before analysis.</a:t>
            </a:r>
          </a:p>
          <a:p>
            <a:pPr>
              <a:lnSpc>
                <a:spcPct val="170000"/>
              </a:lnSpc>
            </a:pPr>
            <a:r>
              <a:rPr lang="en-US" sz="8000" dirty="0">
                <a:latin typeface="Arial" panose="020B0604020202020204" pitchFamily="34" charset="0"/>
                <a:cs typeface="Arial" panose="020B0604020202020204" pitchFamily="34" charset="0"/>
              </a:rPr>
              <a:t>Automatically scan source code and identify security vulnerabilities using rule-based and AI-assisted techniques.</a:t>
            </a:r>
          </a:p>
          <a:p>
            <a:pPr>
              <a:lnSpc>
                <a:spcPct val="170000"/>
              </a:lnSpc>
            </a:pPr>
            <a:r>
              <a:rPr lang="en-US" sz="8000" dirty="0">
                <a:latin typeface="Arial" panose="020B0604020202020204" pitchFamily="34" charset="0"/>
                <a:cs typeface="Arial" panose="020B0604020202020204" pitchFamily="34" charset="0"/>
              </a:rPr>
              <a:t>Analyze detected vulnerabilities, calculate project security score, and classify project risk levels.</a:t>
            </a:r>
          </a:p>
          <a:p>
            <a:pPr>
              <a:lnSpc>
                <a:spcPct val="170000"/>
              </a:lnSpc>
            </a:pPr>
            <a:r>
              <a:rPr lang="en-US" sz="8000" dirty="0">
                <a:latin typeface="Arial" panose="020B0604020202020204" pitchFamily="34" charset="0"/>
                <a:cs typeface="Arial" panose="020B0604020202020204" pitchFamily="34" charset="0"/>
              </a:rPr>
              <a:t>Generate detailed security reports and provide recommendations to help developers fix identified issues.</a:t>
            </a:r>
            <a:endParaRPr lang="en-IN" sz="8000" dirty="0">
              <a:latin typeface="Arial" panose="020B0604020202020204" pitchFamily="34" charset="0"/>
              <a:cs typeface="Arial" panose="020B0604020202020204" pitchFamily="34" charset="0"/>
            </a:endParaRPr>
          </a:p>
          <a:p>
            <a:pPr marL="0" indent="0">
              <a:buNone/>
            </a:pPr>
            <a:endParaRPr lang="en-IN" dirty="0"/>
          </a:p>
        </p:txBody>
      </p:sp>
      <p:pic>
        <p:nvPicPr>
          <p:cNvPr id="10" name="Picture 9" descr="What is an Artificial Intelligence System?">
            <a:extLst>
              <a:ext uri="{FF2B5EF4-FFF2-40B4-BE49-F238E27FC236}">
                <a16:creationId xmlns:a16="http://schemas.microsoft.com/office/drawing/2014/main" id="{2CAFCD81-B9B1-22A7-C3CA-6E43B88DC5AA}"/>
              </a:ext>
            </a:extLst>
          </p:cNvPr>
          <p:cNvPicPr>
            <a:picLocks noChangeAspect="1"/>
          </p:cNvPicPr>
          <p:nvPr/>
        </p:nvPicPr>
        <p:blipFill>
          <a:blip r:embed="rId4"/>
          <a:stretch>
            <a:fillRect/>
          </a:stretch>
        </p:blipFill>
        <p:spPr>
          <a:xfrm>
            <a:off x="8490857" y="2238103"/>
            <a:ext cx="3701143" cy="3483059"/>
          </a:xfrm>
          <a:prstGeom prst="rect">
            <a:avLst/>
          </a:prstGeom>
        </p:spPr>
      </p:pic>
    </p:spTree>
    <p:extLst>
      <p:ext uri="{BB962C8B-B14F-4D97-AF65-F5344CB8AC3E}">
        <p14:creationId xmlns:p14="http://schemas.microsoft.com/office/powerpoint/2010/main" val="2894637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39455-15C3-AD8D-208A-997F0BDCF274}"/>
              </a:ext>
            </a:extLst>
          </p:cNvPr>
          <p:cNvSpPr>
            <a:spLocks noGrp="1"/>
          </p:cNvSpPr>
          <p:nvPr>
            <p:ph type="title"/>
          </p:nvPr>
        </p:nvSpPr>
        <p:spPr>
          <a:xfrm>
            <a:off x="786959" y="57008"/>
            <a:ext cx="10069284" cy="1082669"/>
          </a:xfrm>
        </p:spPr>
        <p:txBody>
          <a:bodyPr>
            <a:normAutofit fontScale="90000"/>
          </a:bodyPr>
          <a:lstStyle/>
          <a:p>
            <a:r>
              <a:rPr lang="en-IN" b="1" dirty="0">
                <a:solidFill>
                  <a:srgbClr val="7030A0"/>
                </a:solidFill>
              </a:rPr>
              <a:t>          </a:t>
            </a:r>
            <a:r>
              <a:rPr lang="en-IN" b="1" dirty="0">
                <a:solidFill>
                  <a:schemeClr val="accent1">
                    <a:lumMod val="50000"/>
                  </a:schemeClr>
                </a:solidFill>
                <a:latin typeface="Arial" panose="020B0604020202020204" pitchFamily="34" charset="0"/>
                <a:cs typeface="Arial" panose="020B0604020202020204" pitchFamily="34" charset="0"/>
              </a:rPr>
              <a:t> </a:t>
            </a:r>
            <a:r>
              <a:rPr lang="en-IN" dirty="0">
                <a:solidFill>
                  <a:schemeClr val="accent1">
                    <a:lumMod val="50000"/>
                  </a:schemeClr>
                </a:solidFill>
                <a:latin typeface="Arial" panose="020B0604020202020204" pitchFamily="34" charset="0"/>
                <a:cs typeface="Arial" panose="020B0604020202020204" pitchFamily="34" charset="0"/>
              </a:rPr>
              <a:t>Existing System vs Proposed System</a:t>
            </a:r>
            <a:endParaRPr lang="en-IN" b="1" dirty="0">
              <a:solidFill>
                <a:schemeClr val="accent1">
                  <a:lumMod val="50000"/>
                </a:schemeClr>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582C515-DC68-BF92-9B89-902ECA0CA15A}"/>
              </a:ext>
            </a:extLst>
          </p:cNvPr>
          <p:cNvPicPr>
            <a:picLocks noChangeAspect="1"/>
          </p:cNvPicPr>
          <p:nvPr/>
        </p:nvPicPr>
        <p:blipFill>
          <a:blip r:embed="rId2"/>
          <a:stretch>
            <a:fillRect/>
          </a:stretch>
        </p:blipFill>
        <p:spPr>
          <a:xfrm>
            <a:off x="80560" y="0"/>
            <a:ext cx="1412798" cy="1196687"/>
          </a:xfrm>
          <a:prstGeom prst="rect">
            <a:avLst/>
          </a:prstGeom>
        </p:spPr>
      </p:pic>
      <p:sp>
        <p:nvSpPr>
          <p:cNvPr id="5" name="Freeform 6">
            <a:extLst>
              <a:ext uri="{FF2B5EF4-FFF2-40B4-BE49-F238E27FC236}">
                <a16:creationId xmlns:a16="http://schemas.microsoft.com/office/drawing/2014/main" id="{21DBF89A-2700-5AA7-CD81-E0DC59BE13AE}"/>
              </a:ext>
            </a:extLst>
          </p:cNvPr>
          <p:cNvSpPr/>
          <p:nvPr/>
        </p:nvSpPr>
        <p:spPr>
          <a:xfrm>
            <a:off x="10596161" y="-1"/>
            <a:ext cx="1515279" cy="11966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graphicFrame>
        <p:nvGraphicFramePr>
          <p:cNvPr id="6" name="Table 5">
            <a:extLst>
              <a:ext uri="{FF2B5EF4-FFF2-40B4-BE49-F238E27FC236}">
                <a16:creationId xmlns:a16="http://schemas.microsoft.com/office/drawing/2014/main" id="{C3A19B34-D041-E36E-014B-2F2F52C90BF5}"/>
              </a:ext>
            </a:extLst>
          </p:cNvPr>
          <p:cNvGraphicFramePr>
            <a:graphicFrameLocks noGrp="1"/>
          </p:cNvGraphicFramePr>
          <p:nvPr>
            <p:extLst>
              <p:ext uri="{D42A27DB-BD31-4B8C-83A1-F6EECF244321}">
                <p14:modId xmlns:p14="http://schemas.microsoft.com/office/powerpoint/2010/main" val="3322213466"/>
              </p:ext>
            </p:extLst>
          </p:nvPr>
        </p:nvGraphicFramePr>
        <p:xfrm>
          <a:off x="214451" y="1348596"/>
          <a:ext cx="11763097" cy="5509404"/>
        </p:xfrm>
        <a:graphic>
          <a:graphicData uri="http://schemas.openxmlformats.org/drawingml/2006/table">
            <a:tbl>
              <a:tblPr/>
              <a:tblGrid>
                <a:gridCol w="4360932">
                  <a:extLst>
                    <a:ext uri="{9D8B030D-6E8A-4147-A177-3AD203B41FA5}">
                      <a16:colId xmlns:a16="http://schemas.microsoft.com/office/drawing/2014/main" val="744164738"/>
                    </a:ext>
                  </a:extLst>
                </a:gridCol>
                <a:gridCol w="7402165">
                  <a:extLst>
                    <a:ext uri="{9D8B030D-6E8A-4147-A177-3AD203B41FA5}">
                      <a16:colId xmlns:a16="http://schemas.microsoft.com/office/drawing/2014/main" val="3462087970"/>
                    </a:ext>
                  </a:extLst>
                </a:gridCol>
              </a:tblGrid>
              <a:tr h="658117">
                <a:tc>
                  <a:txBody>
                    <a:bodyPr/>
                    <a:lstStyle/>
                    <a:p>
                      <a:pPr>
                        <a:buNone/>
                      </a:pPr>
                      <a:r>
                        <a:rPr lang="en-IN" sz="2800" b="1" dirty="0">
                          <a:solidFill>
                            <a:schemeClr val="accent1"/>
                          </a:solidFill>
                          <a:latin typeface="Arial" panose="020B0604020202020204" pitchFamily="34" charset="0"/>
                          <a:cs typeface="Arial" panose="020B0604020202020204" pitchFamily="34" charset="0"/>
                        </a:rPr>
                        <a:t>Existing System</a:t>
                      </a:r>
                      <a:endParaRPr lang="en-IN" sz="2800" dirty="0">
                        <a:solidFill>
                          <a:schemeClr val="accent1"/>
                        </a:solidFill>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buNone/>
                      </a:pPr>
                      <a:r>
                        <a:rPr lang="en-IN" sz="2800" b="1">
                          <a:solidFill>
                            <a:schemeClr val="accent1"/>
                          </a:solidFill>
                          <a:latin typeface="Arial" panose="020B0604020202020204" pitchFamily="34" charset="0"/>
                          <a:cs typeface="Arial" panose="020B0604020202020204" pitchFamily="34" charset="0"/>
                        </a:rPr>
                        <a:t>Proposed System</a:t>
                      </a:r>
                      <a:endParaRPr lang="en-IN" sz="2800">
                        <a:solidFill>
                          <a:schemeClr val="accent1"/>
                        </a:solidFill>
                        <a:latin typeface="Arial" panose="020B0604020202020204" pitchFamily="34" charset="0"/>
                        <a:cs typeface="Arial" panose="020B0604020202020204" pitchFamily="34" charset="0"/>
                      </a:endParaRPr>
                    </a:p>
                  </a:txBody>
                  <a:tcPr anchor="ctr">
                    <a:lnL>
                      <a:noFill/>
                    </a:lnL>
                    <a:lnR>
                      <a:noFill/>
                    </a:lnR>
                    <a:lnT>
                      <a:noFill/>
                    </a:lnT>
                    <a:lnB>
                      <a:noFill/>
                    </a:lnB>
                    <a:noFill/>
                  </a:tcPr>
                </a:tc>
                <a:extLst>
                  <a:ext uri="{0D108BD9-81ED-4DB2-BD59-A6C34878D82A}">
                    <a16:rowId xmlns:a16="http://schemas.microsoft.com/office/drawing/2014/main" val="1342027651"/>
                  </a:ext>
                </a:extLst>
              </a:tr>
              <a:tr h="658117">
                <a:tc>
                  <a:txBody>
                    <a:bodyPr/>
                    <a:lstStyle/>
                    <a:p>
                      <a:pPr>
                        <a:buNone/>
                      </a:pPr>
                      <a:r>
                        <a:rPr lang="en-IN" sz="2800" dirty="0">
                          <a:solidFill>
                            <a:schemeClr val="accent1"/>
                          </a:solidFill>
                          <a:latin typeface="Arial" panose="020B0604020202020204" pitchFamily="34" charset="0"/>
                          <a:cs typeface="Arial" panose="020B0604020202020204" pitchFamily="34" charset="0"/>
                        </a:rPr>
                        <a:t>Manual code review process</a:t>
                      </a:r>
                    </a:p>
                  </a:txBody>
                  <a:tcPr anchor="ctr">
                    <a:lnL>
                      <a:noFill/>
                    </a:lnL>
                    <a:lnR>
                      <a:noFill/>
                    </a:lnR>
                    <a:lnT>
                      <a:noFill/>
                    </a:lnT>
                    <a:lnB>
                      <a:noFill/>
                    </a:lnB>
                    <a:noFill/>
                  </a:tcPr>
                </a:tc>
                <a:tc>
                  <a:txBody>
                    <a:bodyPr/>
                    <a:lstStyle/>
                    <a:p>
                      <a:pPr>
                        <a:buNone/>
                      </a:pPr>
                      <a:r>
                        <a:rPr lang="en-IN" sz="2800" dirty="0">
                          <a:solidFill>
                            <a:schemeClr val="accent1"/>
                          </a:solidFill>
                          <a:latin typeface="Arial" panose="020B0604020202020204" pitchFamily="34" charset="0"/>
                          <a:cs typeface="Arial" panose="020B0604020202020204" pitchFamily="34" charset="0"/>
                        </a:rPr>
                        <a:t>Automated AI-powered vulnerability scanning</a:t>
                      </a:r>
                    </a:p>
                  </a:txBody>
                  <a:tcPr anchor="ctr">
                    <a:lnL>
                      <a:noFill/>
                    </a:lnL>
                    <a:lnR>
                      <a:noFill/>
                    </a:lnR>
                    <a:lnT>
                      <a:noFill/>
                    </a:lnT>
                    <a:lnB>
                      <a:noFill/>
                    </a:lnB>
                    <a:noFill/>
                  </a:tcPr>
                </a:tc>
                <a:extLst>
                  <a:ext uri="{0D108BD9-81ED-4DB2-BD59-A6C34878D82A}">
                    <a16:rowId xmlns:a16="http://schemas.microsoft.com/office/drawing/2014/main" val="2593816150"/>
                  </a:ext>
                </a:extLst>
              </a:tr>
              <a:tr h="658117">
                <a:tc>
                  <a:txBody>
                    <a:bodyPr/>
                    <a:lstStyle/>
                    <a:p>
                      <a:pPr>
                        <a:buNone/>
                      </a:pPr>
                      <a:r>
                        <a:rPr lang="en-IN" sz="2800">
                          <a:solidFill>
                            <a:schemeClr val="accent1"/>
                          </a:solidFill>
                          <a:latin typeface="Arial" panose="020B0604020202020204" pitchFamily="34" charset="0"/>
                          <a:cs typeface="Arial" panose="020B0604020202020204" pitchFamily="34" charset="0"/>
                        </a:rPr>
                        <a:t>Time-consuming security analysis</a:t>
                      </a:r>
                    </a:p>
                  </a:txBody>
                  <a:tcPr anchor="ctr">
                    <a:lnL>
                      <a:noFill/>
                    </a:lnL>
                    <a:lnR>
                      <a:noFill/>
                    </a:lnR>
                    <a:lnT>
                      <a:noFill/>
                    </a:lnT>
                    <a:lnB>
                      <a:noFill/>
                    </a:lnB>
                    <a:noFill/>
                  </a:tcPr>
                </a:tc>
                <a:tc>
                  <a:txBody>
                    <a:bodyPr/>
                    <a:lstStyle/>
                    <a:p>
                      <a:pPr>
                        <a:buNone/>
                      </a:pPr>
                      <a:r>
                        <a:rPr lang="en-IN" sz="2800" dirty="0">
                          <a:solidFill>
                            <a:schemeClr val="accent1"/>
                          </a:solidFill>
                          <a:latin typeface="Arial" panose="020B0604020202020204" pitchFamily="34" charset="0"/>
                          <a:cs typeface="Arial" panose="020B0604020202020204" pitchFamily="34" charset="0"/>
                        </a:rPr>
                        <a:t>Fast and intelligent project scanning</a:t>
                      </a:r>
                    </a:p>
                  </a:txBody>
                  <a:tcPr anchor="ctr">
                    <a:lnL>
                      <a:noFill/>
                    </a:lnL>
                    <a:lnR>
                      <a:noFill/>
                    </a:lnR>
                    <a:lnT>
                      <a:noFill/>
                    </a:lnT>
                    <a:lnB>
                      <a:noFill/>
                    </a:lnB>
                    <a:noFill/>
                  </a:tcPr>
                </a:tc>
                <a:extLst>
                  <a:ext uri="{0D108BD9-81ED-4DB2-BD59-A6C34878D82A}">
                    <a16:rowId xmlns:a16="http://schemas.microsoft.com/office/drawing/2014/main" val="383107483"/>
                  </a:ext>
                </a:extLst>
              </a:tr>
              <a:tr h="658117">
                <a:tc>
                  <a:txBody>
                    <a:bodyPr/>
                    <a:lstStyle/>
                    <a:p>
                      <a:pPr>
                        <a:buNone/>
                      </a:pPr>
                      <a:r>
                        <a:rPr lang="en-IN" sz="2800">
                          <a:solidFill>
                            <a:schemeClr val="accent1"/>
                          </a:solidFill>
                          <a:latin typeface="Arial" panose="020B0604020202020204" pitchFamily="34" charset="0"/>
                          <a:cs typeface="Arial" panose="020B0604020202020204" pitchFamily="34" charset="0"/>
                        </a:rPr>
                        <a:t>Requires security experts</a:t>
                      </a:r>
                    </a:p>
                  </a:txBody>
                  <a:tcPr anchor="ctr">
                    <a:lnL>
                      <a:noFill/>
                    </a:lnL>
                    <a:lnR>
                      <a:noFill/>
                    </a:lnR>
                    <a:lnT>
                      <a:noFill/>
                    </a:lnT>
                    <a:lnB>
                      <a:noFill/>
                    </a:lnB>
                    <a:noFill/>
                  </a:tcPr>
                </a:tc>
                <a:tc>
                  <a:txBody>
                    <a:bodyPr/>
                    <a:lstStyle/>
                    <a:p>
                      <a:pPr>
                        <a:buNone/>
                      </a:pPr>
                      <a:r>
                        <a:rPr lang="en-IN" sz="2800" dirty="0">
                          <a:solidFill>
                            <a:schemeClr val="accent1"/>
                          </a:solidFill>
                          <a:latin typeface="Arial" panose="020B0604020202020204" pitchFamily="34" charset="0"/>
                          <a:cs typeface="Arial" panose="020B0604020202020204" pitchFamily="34" charset="0"/>
                        </a:rPr>
                        <a:t>Easy for developers to use</a:t>
                      </a:r>
                    </a:p>
                  </a:txBody>
                  <a:tcPr anchor="ctr">
                    <a:lnL>
                      <a:noFill/>
                    </a:lnL>
                    <a:lnR>
                      <a:noFill/>
                    </a:lnR>
                    <a:lnT>
                      <a:noFill/>
                    </a:lnT>
                    <a:lnB>
                      <a:noFill/>
                    </a:lnB>
                    <a:noFill/>
                  </a:tcPr>
                </a:tc>
                <a:extLst>
                  <a:ext uri="{0D108BD9-81ED-4DB2-BD59-A6C34878D82A}">
                    <a16:rowId xmlns:a16="http://schemas.microsoft.com/office/drawing/2014/main" val="893094775"/>
                  </a:ext>
                </a:extLst>
              </a:tr>
              <a:tr h="1151705">
                <a:tc>
                  <a:txBody>
                    <a:bodyPr/>
                    <a:lstStyle/>
                    <a:p>
                      <a:pPr>
                        <a:buNone/>
                      </a:pPr>
                      <a:r>
                        <a:rPr lang="en-IN" sz="2800">
                          <a:solidFill>
                            <a:schemeClr val="accent1"/>
                          </a:solidFill>
                          <a:latin typeface="Arial" panose="020B0604020202020204" pitchFamily="34" charset="0"/>
                          <a:cs typeface="Arial" panose="020B0604020202020204" pitchFamily="34" charset="0"/>
                        </a:rPr>
                        <a:t>Limited vulnerability identification</a:t>
                      </a:r>
                    </a:p>
                  </a:txBody>
                  <a:tcPr anchor="ctr">
                    <a:lnL>
                      <a:noFill/>
                    </a:lnL>
                    <a:lnR>
                      <a:noFill/>
                    </a:lnR>
                    <a:lnT>
                      <a:noFill/>
                    </a:lnT>
                    <a:lnB>
                      <a:noFill/>
                    </a:lnB>
                    <a:noFill/>
                  </a:tcPr>
                </a:tc>
                <a:tc>
                  <a:txBody>
                    <a:bodyPr/>
                    <a:lstStyle/>
                    <a:p>
                      <a:pPr>
                        <a:buNone/>
                      </a:pPr>
                      <a:r>
                        <a:rPr lang="en-IN" sz="2800" dirty="0">
                          <a:solidFill>
                            <a:schemeClr val="accent1"/>
                          </a:solidFill>
                          <a:latin typeface="Arial" panose="020B0604020202020204" pitchFamily="34" charset="0"/>
                          <a:cs typeface="Arial" panose="020B0604020202020204" pitchFamily="34" charset="0"/>
                        </a:rPr>
                        <a:t>Automatically detects multiple security vulnerabilities</a:t>
                      </a:r>
                    </a:p>
                  </a:txBody>
                  <a:tcPr anchor="ctr">
                    <a:lnL>
                      <a:noFill/>
                    </a:lnL>
                    <a:lnR>
                      <a:noFill/>
                    </a:lnR>
                    <a:lnT>
                      <a:noFill/>
                    </a:lnT>
                    <a:lnB>
                      <a:noFill/>
                    </a:lnB>
                    <a:noFill/>
                  </a:tcPr>
                </a:tc>
                <a:extLst>
                  <a:ext uri="{0D108BD9-81ED-4DB2-BD59-A6C34878D82A}">
                    <a16:rowId xmlns:a16="http://schemas.microsoft.com/office/drawing/2014/main" val="1350786069"/>
                  </a:ext>
                </a:extLst>
              </a:tr>
              <a:tr h="1151705">
                <a:tc>
                  <a:txBody>
                    <a:bodyPr/>
                    <a:lstStyle/>
                    <a:p>
                      <a:pPr>
                        <a:buNone/>
                      </a:pPr>
                      <a:r>
                        <a:rPr lang="en-IN" sz="2800">
                          <a:solidFill>
                            <a:schemeClr val="accent1"/>
                          </a:solidFill>
                          <a:latin typeface="Arial" panose="020B0604020202020204" pitchFamily="34" charset="0"/>
                          <a:cs typeface="Arial" panose="020B0604020202020204" pitchFamily="34" charset="0"/>
                        </a:rPr>
                        <a:t>Minimal security guidance</a:t>
                      </a:r>
                    </a:p>
                  </a:txBody>
                  <a:tcPr anchor="ctr">
                    <a:lnL>
                      <a:noFill/>
                    </a:lnL>
                    <a:lnR>
                      <a:noFill/>
                    </a:lnR>
                    <a:lnT>
                      <a:noFill/>
                    </a:lnT>
                    <a:lnB>
                      <a:noFill/>
                    </a:lnB>
                    <a:noFill/>
                  </a:tcPr>
                </a:tc>
                <a:tc>
                  <a:txBody>
                    <a:bodyPr/>
                    <a:lstStyle/>
                    <a:p>
                      <a:pPr>
                        <a:buNone/>
                      </a:pPr>
                      <a:r>
                        <a:rPr lang="en-IN" sz="2800" dirty="0">
                          <a:solidFill>
                            <a:schemeClr val="accent1"/>
                          </a:solidFill>
                          <a:latin typeface="Arial" panose="020B0604020202020204" pitchFamily="34" charset="0"/>
                          <a:cs typeface="Arial" panose="020B0604020202020204" pitchFamily="34" charset="0"/>
                        </a:rPr>
                        <a:t>Provides security recommendations, risk level, and security score</a:t>
                      </a:r>
                    </a:p>
                  </a:txBody>
                  <a:tcPr anchor="ctr">
                    <a:lnL>
                      <a:noFill/>
                    </a:lnL>
                    <a:lnR>
                      <a:noFill/>
                    </a:lnR>
                    <a:lnT>
                      <a:noFill/>
                    </a:lnT>
                    <a:lnB>
                      <a:noFill/>
                    </a:lnB>
                    <a:noFill/>
                  </a:tcPr>
                </a:tc>
                <a:extLst>
                  <a:ext uri="{0D108BD9-81ED-4DB2-BD59-A6C34878D82A}">
                    <a16:rowId xmlns:a16="http://schemas.microsoft.com/office/drawing/2014/main" val="1569265584"/>
                  </a:ext>
                </a:extLst>
              </a:tr>
            </a:tbl>
          </a:graphicData>
        </a:graphic>
      </p:graphicFrame>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4F1E51F7-FABC-2737-EB38-4771331D3B98}"/>
                  </a:ext>
                </a:extLst>
              </p14:cNvPr>
              <p14:cNvContentPartPr/>
              <p14:nvPr/>
            </p14:nvContentPartPr>
            <p14:xfrm>
              <a:off x="4495394" y="1589673"/>
              <a:ext cx="360" cy="5226480"/>
            </p14:xfrm>
          </p:contentPart>
        </mc:Choice>
        <mc:Fallback xmlns="">
          <p:pic>
            <p:nvPicPr>
              <p:cNvPr id="7" name="Ink 6">
                <a:extLst>
                  <a:ext uri="{FF2B5EF4-FFF2-40B4-BE49-F238E27FC236}">
                    <a16:creationId xmlns:a16="http://schemas.microsoft.com/office/drawing/2014/main" id="{4F1E51F7-FABC-2737-EB38-4771331D3B98}"/>
                  </a:ext>
                </a:extLst>
              </p:cNvPr>
              <p:cNvPicPr/>
              <p:nvPr/>
            </p:nvPicPr>
            <p:blipFill>
              <a:blip r:embed="rId5"/>
              <a:stretch>
                <a:fillRect/>
              </a:stretch>
            </p:blipFill>
            <p:spPr>
              <a:xfrm>
                <a:off x="4489274" y="1583553"/>
                <a:ext cx="12600" cy="5238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35103469-5974-0FA8-7F5D-021B0B46845C}"/>
                  </a:ext>
                </a:extLst>
              </p14:cNvPr>
              <p14:cNvContentPartPr/>
              <p14:nvPr/>
            </p14:nvContentPartPr>
            <p14:xfrm>
              <a:off x="4495394" y="1783353"/>
              <a:ext cx="360" cy="5069520"/>
            </p14:xfrm>
          </p:contentPart>
        </mc:Choice>
        <mc:Fallback xmlns="">
          <p:pic>
            <p:nvPicPr>
              <p:cNvPr id="11" name="Ink 10">
                <a:extLst>
                  <a:ext uri="{FF2B5EF4-FFF2-40B4-BE49-F238E27FC236}">
                    <a16:creationId xmlns:a16="http://schemas.microsoft.com/office/drawing/2014/main" id="{35103469-5974-0FA8-7F5D-021B0B46845C}"/>
                  </a:ext>
                </a:extLst>
              </p:cNvPr>
              <p:cNvPicPr/>
              <p:nvPr/>
            </p:nvPicPr>
            <p:blipFill>
              <a:blip r:embed="rId7"/>
              <a:stretch>
                <a:fillRect/>
              </a:stretch>
            </p:blipFill>
            <p:spPr>
              <a:xfrm>
                <a:off x="4489274" y="1777233"/>
                <a:ext cx="12600" cy="5081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3" name="Ink 52">
                <a:extLst>
                  <a:ext uri="{FF2B5EF4-FFF2-40B4-BE49-F238E27FC236}">
                    <a16:creationId xmlns:a16="http://schemas.microsoft.com/office/drawing/2014/main" id="{3809EBE0-DD48-E88C-429F-4A6F01E8AC65}"/>
                  </a:ext>
                </a:extLst>
              </p14:cNvPr>
              <p14:cNvContentPartPr/>
              <p14:nvPr/>
            </p14:nvContentPartPr>
            <p14:xfrm>
              <a:off x="82154" y="1934193"/>
              <a:ext cx="12113640" cy="360"/>
            </p14:xfrm>
          </p:contentPart>
        </mc:Choice>
        <mc:Fallback xmlns="">
          <p:pic>
            <p:nvPicPr>
              <p:cNvPr id="53" name="Ink 52">
                <a:extLst>
                  <a:ext uri="{FF2B5EF4-FFF2-40B4-BE49-F238E27FC236}">
                    <a16:creationId xmlns:a16="http://schemas.microsoft.com/office/drawing/2014/main" id="{3809EBE0-DD48-E88C-429F-4A6F01E8AC65}"/>
                  </a:ext>
                </a:extLst>
              </p:cNvPr>
              <p:cNvPicPr/>
              <p:nvPr/>
            </p:nvPicPr>
            <p:blipFill>
              <a:blip r:embed="rId9"/>
              <a:stretch>
                <a:fillRect/>
              </a:stretch>
            </p:blipFill>
            <p:spPr>
              <a:xfrm>
                <a:off x="76034" y="1928073"/>
                <a:ext cx="121258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0" name="Ink 29">
                <a:extLst>
                  <a:ext uri="{FF2B5EF4-FFF2-40B4-BE49-F238E27FC236}">
                    <a16:creationId xmlns:a16="http://schemas.microsoft.com/office/drawing/2014/main" id="{C6F1D3E0-129F-79A8-286E-EB770CB86A18}"/>
                  </a:ext>
                </a:extLst>
              </p14:cNvPr>
              <p14:cNvContentPartPr/>
              <p14:nvPr/>
            </p14:nvContentPartPr>
            <p14:xfrm>
              <a:off x="4504394" y="1447113"/>
              <a:ext cx="360" cy="5862960"/>
            </p14:xfrm>
          </p:contentPart>
        </mc:Choice>
        <mc:Fallback xmlns="">
          <p:pic>
            <p:nvPicPr>
              <p:cNvPr id="30" name="Ink 29">
                <a:extLst>
                  <a:ext uri="{FF2B5EF4-FFF2-40B4-BE49-F238E27FC236}">
                    <a16:creationId xmlns:a16="http://schemas.microsoft.com/office/drawing/2014/main" id="{C6F1D3E0-129F-79A8-286E-EB770CB86A18}"/>
                  </a:ext>
                </a:extLst>
              </p:cNvPr>
              <p:cNvPicPr/>
              <p:nvPr/>
            </p:nvPicPr>
            <p:blipFill>
              <a:blip r:embed="rId11"/>
              <a:stretch>
                <a:fillRect/>
              </a:stretch>
            </p:blipFill>
            <p:spPr>
              <a:xfrm>
                <a:off x="4498274" y="1440993"/>
                <a:ext cx="12600" cy="5875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1" name="Ink 40">
                <a:extLst>
                  <a:ext uri="{FF2B5EF4-FFF2-40B4-BE49-F238E27FC236}">
                    <a16:creationId xmlns:a16="http://schemas.microsoft.com/office/drawing/2014/main" id="{35518ED4-5E96-C419-1AF1-864563E8DDAF}"/>
                  </a:ext>
                </a:extLst>
              </p14:cNvPr>
              <p14:cNvContentPartPr/>
              <p14:nvPr/>
            </p14:nvContentPartPr>
            <p14:xfrm>
              <a:off x="4504394" y="1398522"/>
              <a:ext cx="360" cy="1793520"/>
            </p14:xfrm>
          </p:contentPart>
        </mc:Choice>
        <mc:Fallback xmlns="">
          <p:pic>
            <p:nvPicPr>
              <p:cNvPr id="41" name="Ink 40">
                <a:extLst>
                  <a:ext uri="{FF2B5EF4-FFF2-40B4-BE49-F238E27FC236}">
                    <a16:creationId xmlns:a16="http://schemas.microsoft.com/office/drawing/2014/main" id="{35518ED4-5E96-C419-1AF1-864563E8DDAF}"/>
                  </a:ext>
                </a:extLst>
              </p:cNvPr>
              <p:cNvPicPr/>
              <p:nvPr/>
            </p:nvPicPr>
            <p:blipFill>
              <a:blip r:embed="rId13"/>
              <a:stretch>
                <a:fillRect/>
              </a:stretch>
            </p:blipFill>
            <p:spPr>
              <a:xfrm>
                <a:off x="4498274" y="1392402"/>
                <a:ext cx="12600" cy="1805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A2AC635A-312B-8E9A-8868-988A11B48B0F}"/>
                  </a:ext>
                </a:extLst>
              </p14:cNvPr>
              <p14:cNvContentPartPr/>
              <p14:nvPr/>
            </p14:nvContentPartPr>
            <p14:xfrm>
              <a:off x="-2263966" y="3318402"/>
              <a:ext cx="360" cy="360"/>
            </p14:xfrm>
          </p:contentPart>
        </mc:Choice>
        <mc:Fallback xmlns="">
          <p:pic>
            <p:nvPicPr>
              <p:cNvPr id="13" name="Ink 12">
                <a:extLst>
                  <a:ext uri="{FF2B5EF4-FFF2-40B4-BE49-F238E27FC236}">
                    <a16:creationId xmlns:a16="http://schemas.microsoft.com/office/drawing/2014/main" id="{A2AC635A-312B-8E9A-8868-988A11B48B0F}"/>
                  </a:ext>
                </a:extLst>
              </p:cNvPr>
              <p:cNvPicPr/>
              <p:nvPr/>
            </p:nvPicPr>
            <p:blipFill>
              <a:blip r:embed="rId15"/>
              <a:stretch>
                <a:fillRect/>
              </a:stretch>
            </p:blipFill>
            <p:spPr>
              <a:xfrm>
                <a:off x="-2272606" y="33097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2" name="Ink 51">
                <a:extLst>
                  <a:ext uri="{FF2B5EF4-FFF2-40B4-BE49-F238E27FC236}">
                    <a16:creationId xmlns:a16="http://schemas.microsoft.com/office/drawing/2014/main" id="{7E9B6B73-6974-4FA7-D068-0D7F650C3572}"/>
                  </a:ext>
                </a:extLst>
              </p14:cNvPr>
              <p14:cNvContentPartPr/>
              <p14:nvPr/>
            </p14:nvContentPartPr>
            <p14:xfrm>
              <a:off x="38594" y="1369722"/>
              <a:ext cx="12174480" cy="360"/>
            </p14:xfrm>
          </p:contentPart>
        </mc:Choice>
        <mc:Fallback xmlns="">
          <p:pic>
            <p:nvPicPr>
              <p:cNvPr id="52" name="Ink 51">
                <a:extLst>
                  <a:ext uri="{FF2B5EF4-FFF2-40B4-BE49-F238E27FC236}">
                    <a16:creationId xmlns:a16="http://schemas.microsoft.com/office/drawing/2014/main" id="{7E9B6B73-6974-4FA7-D068-0D7F650C3572}"/>
                  </a:ext>
                </a:extLst>
              </p:cNvPr>
              <p:cNvPicPr/>
              <p:nvPr/>
            </p:nvPicPr>
            <p:blipFill>
              <a:blip r:embed="rId17"/>
              <a:stretch>
                <a:fillRect/>
              </a:stretch>
            </p:blipFill>
            <p:spPr>
              <a:xfrm>
                <a:off x="29954" y="1360722"/>
                <a:ext cx="12192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1" name="Ink 50">
                <a:extLst>
                  <a:ext uri="{FF2B5EF4-FFF2-40B4-BE49-F238E27FC236}">
                    <a16:creationId xmlns:a16="http://schemas.microsoft.com/office/drawing/2014/main" id="{7B71CD01-C3C6-DB14-5C60-4CAD76EBF8EB}"/>
                  </a:ext>
                </a:extLst>
              </p14:cNvPr>
              <p14:cNvContentPartPr/>
              <p14:nvPr/>
            </p14:nvContentPartPr>
            <p14:xfrm>
              <a:off x="82154" y="1930602"/>
              <a:ext cx="12113640" cy="360"/>
            </p14:xfrm>
          </p:contentPart>
        </mc:Choice>
        <mc:Fallback xmlns="">
          <p:pic>
            <p:nvPicPr>
              <p:cNvPr id="51" name="Ink 50">
                <a:extLst>
                  <a:ext uri="{FF2B5EF4-FFF2-40B4-BE49-F238E27FC236}">
                    <a16:creationId xmlns:a16="http://schemas.microsoft.com/office/drawing/2014/main" id="{7B71CD01-C3C6-DB14-5C60-4CAD76EBF8EB}"/>
                  </a:ext>
                </a:extLst>
              </p:cNvPr>
              <p:cNvPicPr/>
              <p:nvPr/>
            </p:nvPicPr>
            <p:blipFill>
              <a:blip r:embed="rId19"/>
              <a:stretch>
                <a:fillRect/>
              </a:stretch>
            </p:blipFill>
            <p:spPr>
              <a:xfrm>
                <a:off x="73514" y="1921962"/>
                <a:ext cx="12131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9" name="Ink 38">
                <a:extLst>
                  <a:ext uri="{FF2B5EF4-FFF2-40B4-BE49-F238E27FC236}">
                    <a16:creationId xmlns:a16="http://schemas.microsoft.com/office/drawing/2014/main" id="{C01750EC-0201-9054-457F-FAE46B69B1FE}"/>
                  </a:ext>
                </a:extLst>
              </p14:cNvPr>
              <p14:cNvContentPartPr/>
              <p14:nvPr/>
            </p14:nvContentPartPr>
            <p14:xfrm>
              <a:off x="4473434" y="1398522"/>
              <a:ext cx="360" cy="5493240"/>
            </p14:xfrm>
          </p:contentPart>
        </mc:Choice>
        <mc:Fallback xmlns="">
          <p:pic>
            <p:nvPicPr>
              <p:cNvPr id="39" name="Ink 38">
                <a:extLst>
                  <a:ext uri="{FF2B5EF4-FFF2-40B4-BE49-F238E27FC236}">
                    <a16:creationId xmlns:a16="http://schemas.microsoft.com/office/drawing/2014/main" id="{C01750EC-0201-9054-457F-FAE46B69B1FE}"/>
                  </a:ext>
                </a:extLst>
              </p:cNvPr>
              <p:cNvPicPr/>
              <p:nvPr/>
            </p:nvPicPr>
            <p:blipFill>
              <a:blip r:embed="rId21"/>
              <a:stretch>
                <a:fillRect/>
              </a:stretch>
            </p:blipFill>
            <p:spPr>
              <a:xfrm>
                <a:off x="4464434" y="1389882"/>
                <a:ext cx="18000" cy="5510880"/>
              </a:xfrm>
              <a:prstGeom prst="rect">
                <a:avLst/>
              </a:prstGeom>
            </p:spPr>
          </p:pic>
        </mc:Fallback>
      </mc:AlternateContent>
      <p:grpSp>
        <p:nvGrpSpPr>
          <p:cNvPr id="23" name="Group 22">
            <a:extLst>
              <a:ext uri="{FF2B5EF4-FFF2-40B4-BE49-F238E27FC236}">
                <a16:creationId xmlns:a16="http://schemas.microsoft.com/office/drawing/2014/main" id="{DA9FAF7B-2E30-61EF-21B4-4F5E9FC97059}"/>
              </a:ext>
            </a:extLst>
          </p:cNvPr>
          <p:cNvGrpSpPr/>
          <p:nvPr/>
        </p:nvGrpSpPr>
        <p:grpSpPr>
          <a:xfrm>
            <a:off x="4468034" y="1398522"/>
            <a:ext cx="5760" cy="757800"/>
            <a:chOff x="4468034" y="1398522"/>
            <a:chExt cx="5760" cy="757800"/>
          </a:xfrm>
        </p:grpSpPr>
        <mc:AlternateContent xmlns:mc="http://schemas.openxmlformats.org/markup-compatibility/2006" xmlns:p14="http://schemas.microsoft.com/office/powerpoint/2010/main">
          <mc:Choice Requires="p14">
            <p:contentPart p14:bwMode="auto" r:id="rId22">
              <p14:nvContentPartPr>
                <p14:cNvPr id="38" name="Ink 37">
                  <a:extLst>
                    <a:ext uri="{FF2B5EF4-FFF2-40B4-BE49-F238E27FC236}">
                      <a16:creationId xmlns:a16="http://schemas.microsoft.com/office/drawing/2014/main" id="{379D34CF-DF37-7577-944C-31F0DE37DD2A}"/>
                    </a:ext>
                  </a:extLst>
                </p14:cNvPr>
                <p14:cNvContentPartPr/>
                <p14:nvPr/>
              </p14:nvContentPartPr>
              <p14:xfrm>
                <a:off x="4473434" y="1398522"/>
                <a:ext cx="360" cy="526680"/>
              </p14:xfrm>
            </p:contentPart>
          </mc:Choice>
          <mc:Fallback xmlns="">
            <p:pic>
              <p:nvPicPr>
                <p:cNvPr id="38" name="Ink 37">
                  <a:extLst>
                    <a:ext uri="{FF2B5EF4-FFF2-40B4-BE49-F238E27FC236}">
                      <a16:creationId xmlns:a16="http://schemas.microsoft.com/office/drawing/2014/main" id="{379D34CF-DF37-7577-944C-31F0DE37DD2A}"/>
                    </a:ext>
                  </a:extLst>
                </p:cNvPr>
                <p:cNvPicPr/>
                <p:nvPr/>
              </p:nvPicPr>
              <p:blipFill>
                <a:blip r:embed="rId23"/>
                <a:stretch>
                  <a:fillRect/>
                </a:stretch>
              </p:blipFill>
              <p:spPr>
                <a:xfrm>
                  <a:off x="4464434" y="1389882"/>
                  <a:ext cx="1800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C8325362-9CAD-96B9-620C-3833D0F04BDC}"/>
                    </a:ext>
                  </a:extLst>
                </p14:cNvPr>
                <p14:cNvContentPartPr/>
                <p14:nvPr/>
              </p14:nvContentPartPr>
              <p14:xfrm>
                <a:off x="4473434" y="1398522"/>
                <a:ext cx="360" cy="523800"/>
              </p14:xfrm>
            </p:contentPart>
          </mc:Choice>
          <mc:Fallback xmlns="">
            <p:pic>
              <p:nvPicPr>
                <p:cNvPr id="37" name="Ink 36">
                  <a:extLst>
                    <a:ext uri="{FF2B5EF4-FFF2-40B4-BE49-F238E27FC236}">
                      <a16:creationId xmlns:a16="http://schemas.microsoft.com/office/drawing/2014/main" id="{C8325362-9CAD-96B9-620C-3833D0F04BDC}"/>
                    </a:ext>
                  </a:extLst>
                </p:cNvPr>
                <p:cNvPicPr/>
                <p:nvPr/>
              </p:nvPicPr>
              <p:blipFill>
                <a:blip r:embed="rId25"/>
                <a:stretch>
                  <a:fillRect/>
                </a:stretch>
              </p:blipFill>
              <p:spPr>
                <a:xfrm>
                  <a:off x="4464434" y="1389882"/>
                  <a:ext cx="18000" cy="541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6" name="Ink 35">
                  <a:extLst>
                    <a:ext uri="{FF2B5EF4-FFF2-40B4-BE49-F238E27FC236}">
                      <a16:creationId xmlns:a16="http://schemas.microsoft.com/office/drawing/2014/main" id="{4701F42D-07C4-A5F0-D318-D9234710BD8D}"/>
                    </a:ext>
                  </a:extLst>
                </p14:cNvPr>
                <p14:cNvContentPartPr/>
                <p14:nvPr/>
              </p14:nvContentPartPr>
              <p14:xfrm>
                <a:off x="4473434" y="1398882"/>
                <a:ext cx="360" cy="599760"/>
              </p14:xfrm>
            </p:contentPart>
          </mc:Choice>
          <mc:Fallback xmlns="">
            <p:pic>
              <p:nvPicPr>
                <p:cNvPr id="36" name="Ink 35">
                  <a:extLst>
                    <a:ext uri="{FF2B5EF4-FFF2-40B4-BE49-F238E27FC236}">
                      <a16:creationId xmlns:a16="http://schemas.microsoft.com/office/drawing/2014/main" id="{4701F42D-07C4-A5F0-D318-D9234710BD8D}"/>
                    </a:ext>
                  </a:extLst>
                </p:cNvPr>
                <p:cNvPicPr/>
                <p:nvPr/>
              </p:nvPicPr>
              <p:blipFill>
                <a:blip r:embed="rId27"/>
                <a:stretch>
                  <a:fillRect/>
                </a:stretch>
              </p:blipFill>
              <p:spPr>
                <a:xfrm>
                  <a:off x="4464434" y="1389882"/>
                  <a:ext cx="1800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5" name="Ink 34">
                  <a:extLst>
                    <a:ext uri="{FF2B5EF4-FFF2-40B4-BE49-F238E27FC236}">
                      <a16:creationId xmlns:a16="http://schemas.microsoft.com/office/drawing/2014/main" id="{AD320EEF-A995-E18B-773D-68508B988403}"/>
                    </a:ext>
                  </a:extLst>
                </p14:cNvPr>
                <p14:cNvContentPartPr/>
                <p14:nvPr/>
              </p14:nvContentPartPr>
              <p14:xfrm>
                <a:off x="4468034" y="1398522"/>
                <a:ext cx="360" cy="757800"/>
              </p14:xfrm>
            </p:contentPart>
          </mc:Choice>
          <mc:Fallback xmlns="">
            <p:pic>
              <p:nvPicPr>
                <p:cNvPr id="35" name="Ink 34">
                  <a:extLst>
                    <a:ext uri="{FF2B5EF4-FFF2-40B4-BE49-F238E27FC236}">
                      <a16:creationId xmlns:a16="http://schemas.microsoft.com/office/drawing/2014/main" id="{AD320EEF-A995-E18B-773D-68508B988403}"/>
                    </a:ext>
                  </a:extLst>
                </p:cNvPr>
                <p:cNvPicPr/>
                <p:nvPr/>
              </p:nvPicPr>
              <p:blipFill>
                <a:blip r:embed="rId29"/>
                <a:stretch>
                  <a:fillRect/>
                </a:stretch>
              </p:blipFill>
              <p:spPr>
                <a:xfrm>
                  <a:off x="4459034" y="1389882"/>
                  <a:ext cx="18000" cy="77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42" name="Ink 41">
                <a:extLst>
                  <a:ext uri="{FF2B5EF4-FFF2-40B4-BE49-F238E27FC236}">
                    <a16:creationId xmlns:a16="http://schemas.microsoft.com/office/drawing/2014/main" id="{58774A6C-C7AF-EA2D-1BD3-AAA2FE64FD0F}"/>
                  </a:ext>
                </a:extLst>
              </p14:cNvPr>
              <p14:cNvContentPartPr/>
              <p14:nvPr/>
            </p14:nvContentPartPr>
            <p14:xfrm>
              <a:off x="2808434" y="1359282"/>
              <a:ext cx="2802600" cy="360"/>
            </p14:xfrm>
          </p:contentPart>
        </mc:Choice>
        <mc:Fallback xmlns="">
          <p:pic>
            <p:nvPicPr>
              <p:cNvPr id="42" name="Ink 41">
                <a:extLst>
                  <a:ext uri="{FF2B5EF4-FFF2-40B4-BE49-F238E27FC236}">
                    <a16:creationId xmlns:a16="http://schemas.microsoft.com/office/drawing/2014/main" id="{58774A6C-C7AF-EA2D-1BD3-AAA2FE64FD0F}"/>
                  </a:ext>
                </a:extLst>
              </p:cNvPr>
              <p:cNvPicPr/>
              <p:nvPr/>
            </p:nvPicPr>
            <p:blipFill>
              <a:blip r:embed="rId31"/>
              <a:stretch>
                <a:fillRect/>
              </a:stretch>
            </p:blipFill>
            <p:spPr>
              <a:xfrm>
                <a:off x="2799794" y="1350642"/>
                <a:ext cx="2820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3" name="Ink 42">
                <a:extLst>
                  <a:ext uri="{FF2B5EF4-FFF2-40B4-BE49-F238E27FC236}">
                    <a16:creationId xmlns:a16="http://schemas.microsoft.com/office/drawing/2014/main" id="{FE52FF92-E50D-7562-C7C6-F1DD0A90005F}"/>
                  </a:ext>
                </a:extLst>
              </p14:cNvPr>
              <p14:cNvContentPartPr/>
              <p14:nvPr/>
            </p14:nvContentPartPr>
            <p14:xfrm>
              <a:off x="2227394" y="1364682"/>
              <a:ext cx="2851560" cy="360"/>
            </p14:xfrm>
          </p:contentPart>
        </mc:Choice>
        <mc:Fallback xmlns="">
          <p:pic>
            <p:nvPicPr>
              <p:cNvPr id="43" name="Ink 42">
                <a:extLst>
                  <a:ext uri="{FF2B5EF4-FFF2-40B4-BE49-F238E27FC236}">
                    <a16:creationId xmlns:a16="http://schemas.microsoft.com/office/drawing/2014/main" id="{FE52FF92-E50D-7562-C7C6-F1DD0A90005F}"/>
                  </a:ext>
                </a:extLst>
              </p:cNvPr>
              <p:cNvPicPr/>
              <p:nvPr/>
            </p:nvPicPr>
            <p:blipFill>
              <a:blip r:embed="rId33"/>
              <a:stretch>
                <a:fillRect/>
              </a:stretch>
            </p:blipFill>
            <p:spPr>
              <a:xfrm>
                <a:off x="2218394" y="1356042"/>
                <a:ext cx="2869200" cy="18000"/>
              </a:xfrm>
              <a:prstGeom prst="rect">
                <a:avLst/>
              </a:prstGeom>
            </p:spPr>
          </p:pic>
        </mc:Fallback>
      </mc:AlternateContent>
      <p:grpSp>
        <p:nvGrpSpPr>
          <p:cNvPr id="46" name="Group 45">
            <a:extLst>
              <a:ext uri="{FF2B5EF4-FFF2-40B4-BE49-F238E27FC236}">
                <a16:creationId xmlns:a16="http://schemas.microsoft.com/office/drawing/2014/main" id="{B1CA6E16-60F8-C45B-CB4F-2B9BDC1E9F62}"/>
              </a:ext>
            </a:extLst>
          </p:cNvPr>
          <p:cNvGrpSpPr/>
          <p:nvPr/>
        </p:nvGrpSpPr>
        <p:grpSpPr>
          <a:xfrm>
            <a:off x="4488194" y="1392042"/>
            <a:ext cx="360" cy="5465160"/>
            <a:chOff x="4488194" y="1392042"/>
            <a:chExt cx="360" cy="5465160"/>
          </a:xfrm>
        </p:grpSpPr>
        <mc:AlternateContent xmlns:mc="http://schemas.openxmlformats.org/markup-compatibility/2006" xmlns:p14="http://schemas.microsoft.com/office/powerpoint/2010/main">
          <mc:Choice Requires="p14">
            <p:contentPart p14:bwMode="auto" r:id="rId34">
              <p14:nvContentPartPr>
                <p14:cNvPr id="44" name="Ink 43">
                  <a:extLst>
                    <a:ext uri="{FF2B5EF4-FFF2-40B4-BE49-F238E27FC236}">
                      <a16:creationId xmlns:a16="http://schemas.microsoft.com/office/drawing/2014/main" id="{64C22B57-7935-CAF1-BEF3-513363C35E28}"/>
                    </a:ext>
                  </a:extLst>
                </p14:cNvPr>
                <p14:cNvContentPartPr/>
                <p14:nvPr/>
              </p14:nvContentPartPr>
              <p14:xfrm>
                <a:off x="4488194" y="1392042"/>
                <a:ext cx="360" cy="5401440"/>
              </p14:xfrm>
            </p:contentPart>
          </mc:Choice>
          <mc:Fallback xmlns="">
            <p:pic>
              <p:nvPicPr>
                <p:cNvPr id="44" name="Ink 43">
                  <a:extLst>
                    <a:ext uri="{FF2B5EF4-FFF2-40B4-BE49-F238E27FC236}">
                      <a16:creationId xmlns:a16="http://schemas.microsoft.com/office/drawing/2014/main" id="{64C22B57-7935-CAF1-BEF3-513363C35E28}"/>
                    </a:ext>
                  </a:extLst>
                </p:cNvPr>
                <p:cNvPicPr/>
                <p:nvPr/>
              </p:nvPicPr>
              <p:blipFill>
                <a:blip r:embed="rId35"/>
                <a:stretch>
                  <a:fillRect/>
                </a:stretch>
              </p:blipFill>
              <p:spPr>
                <a:xfrm>
                  <a:off x="4425554" y="1329402"/>
                  <a:ext cx="126000" cy="5527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5" name="Ink 44">
                  <a:extLst>
                    <a:ext uri="{FF2B5EF4-FFF2-40B4-BE49-F238E27FC236}">
                      <a16:creationId xmlns:a16="http://schemas.microsoft.com/office/drawing/2014/main" id="{63B49A20-618D-D847-D8E7-563E8C62583A}"/>
                    </a:ext>
                  </a:extLst>
                </p14:cNvPr>
                <p14:cNvContentPartPr/>
                <p14:nvPr/>
              </p14:nvContentPartPr>
              <p14:xfrm>
                <a:off x="4488194" y="6603402"/>
                <a:ext cx="360" cy="253800"/>
              </p14:xfrm>
            </p:contentPart>
          </mc:Choice>
          <mc:Fallback xmlns="">
            <p:pic>
              <p:nvPicPr>
                <p:cNvPr id="45" name="Ink 44">
                  <a:extLst>
                    <a:ext uri="{FF2B5EF4-FFF2-40B4-BE49-F238E27FC236}">
                      <a16:creationId xmlns:a16="http://schemas.microsoft.com/office/drawing/2014/main" id="{63B49A20-618D-D847-D8E7-563E8C62583A}"/>
                    </a:ext>
                  </a:extLst>
                </p:cNvPr>
                <p:cNvPicPr/>
                <p:nvPr/>
              </p:nvPicPr>
              <p:blipFill>
                <a:blip r:embed="rId37"/>
                <a:stretch>
                  <a:fillRect/>
                </a:stretch>
              </p:blipFill>
              <p:spPr>
                <a:xfrm>
                  <a:off x="4425554" y="6540402"/>
                  <a:ext cx="126000" cy="37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50" name="Ink 49">
                <a:extLst>
                  <a:ext uri="{FF2B5EF4-FFF2-40B4-BE49-F238E27FC236}">
                    <a16:creationId xmlns:a16="http://schemas.microsoft.com/office/drawing/2014/main" id="{D9512AFD-9294-861D-14DF-47B46690AE16}"/>
                  </a:ext>
                </a:extLst>
              </p14:cNvPr>
              <p14:cNvContentPartPr/>
              <p14:nvPr/>
            </p14:nvContentPartPr>
            <p14:xfrm>
              <a:off x="38954" y="1340562"/>
              <a:ext cx="12157920" cy="360"/>
            </p14:xfrm>
          </p:contentPart>
        </mc:Choice>
        <mc:Fallback xmlns="">
          <p:pic>
            <p:nvPicPr>
              <p:cNvPr id="50" name="Ink 49">
                <a:extLst>
                  <a:ext uri="{FF2B5EF4-FFF2-40B4-BE49-F238E27FC236}">
                    <a16:creationId xmlns:a16="http://schemas.microsoft.com/office/drawing/2014/main" id="{D9512AFD-9294-861D-14DF-47B46690AE16}"/>
                  </a:ext>
                </a:extLst>
              </p:cNvPr>
              <p:cNvPicPr/>
              <p:nvPr/>
            </p:nvPicPr>
            <p:blipFill>
              <a:blip r:embed="rId39"/>
              <a:stretch>
                <a:fillRect/>
              </a:stretch>
            </p:blipFill>
            <p:spPr>
              <a:xfrm>
                <a:off x="-24046" y="1277562"/>
                <a:ext cx="122835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9" name="Ink 48">
                <a:extLst>
                  <a:ext uri="{FF2B5EF4-FFF2-40B4-BE49-F238E27FC236}">
                    <a16:creationId xmlns:a16="http://schemas.microsoft.com/office/drawing/2014/main" id="{E20FA3C9-6D27-AF89-4612-69D9DBD19639}"/>
                  </a:ext>
                </a:extLst>
              </p14:cNvPr>
              <p14:cNvContentPartPr/>
              <p14:nvPr/>
            </p14:nvContentPartPr>
            <p14:xfrm>
              <a:off x="82514" y="1893522"/>
              <a:ext cx="12117960" cy="360"/>
            </p14:xfrm>
          </p:contentPart>
        </mc:Choice>
        <mc:Fallback xmlns="">
          <p:pic>
            <p:nvPicPr>
              <p:cNvPr id="49" name="Ink 48">
                <a:extLst>
                  <a:ext uri="{FF2B5EF4-FFF2-40B4-BE49-F238E27FC236}">
                    <a16:creationId xmlns:a16="http://schemas.microsoft.com/office/drawing/2014/main" id="{E20FA3C9-6D27-AF89-4612-69D9DBD19639}"/>
                  </a:ext>
                </a:extLst>
              </p:cNvPr>
              <p:cNvPicPr/>
              <p:nvPr/>
            </p:nvPicPr>
            <p:blipFill>
              <a:blip r:embed="rId41"/>
              <a:stretch>
                <a:fillRect/>
              </a:stretch>
            </p:blipFill>
            <p:spPr>
              <a:xfrm>
                <a:off x="19514" y="1830882"/>
                <a:ext cx="12243600" cy="126000"/>
              </a:xfrm>
              <a:prstGeom prst="rect">
                <a:avLst/>
              </a:prstGeom>
            </p:spPr>
          </p:pic>
        </mc:Fallback>
      </mc:AlternateContent>
    </p:spTree>
    <p:extLst>
      <p:ext uri="{BB962C8B-B14F-4D97-AF65-F5344CB8AC3E}">
        <p14:creationId xmlns:p14="http://schemas.microsoft.com/office/powerpoint/2010/main" val="3221016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060F76-4CDB-5882-DA88-524F73B64AE3}"/>
              </a:ext>
            </a:extLst>
          </p:cNvPr>
          <p:cNvPicPr>
            <a:picLocks noChangeAspect="1"/>
          </p:cNvPicPr>
          <p:nvPr/>
        </p:nvPicPr>
        <p:blipFill>
          <a:blip r:embed="rId2"/>
          <a:stretch>
            <a:fillRect/>
          </a:stretch>
        </p:blipFill>
        <p:spPr>
          <a:xfrm>
            <a:off x="80560" y="14429"/>
            <a:ext cx="1412798" cy="1288473"/>
          </a:xfrm>
          <a:prstGeom prst="rect">
            <a:avLst/>
          </a:prstGeom>
        </p:spPr>
      </p:pic>
      <p:sp>
        <p:nvSpPr>
          <p:cNvPr id="5" name="Freeform 6">
            <a:extLst>
              <a:ext uri="{FF2B5EF4-FFF2-40B4-BE49-F238E27FC236}">
                <a16:creationId xmlns:a16="http://schemas.microsoft.com/office/drawing/2014/main" id="{E4328A9B-5080-2AFA-3576-ECCB079D44EA}"/>
              </a:ext>
            </a:extLst>
          </p:cNvPr>
          <p:cNvSpPr/>
          <p:nvPr/>
        </p:nvSpPr>
        <p:spPr>
          <a:xfrm>
            <a:off x="10618082" y="0"/>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sp>
        <p:nvSpPr>
          <p:cNvPr id="7" name="Title 6">
            <a:extLst>
              <a:ext uri="{FF2B5EF4-FFF2-40B4-BE49-F238E27FC236}">
                <a16:creationId xmlns:a16="http://schemas.microsoft.com/office/drawing/2014/main" id="{241E7A52-89BF-3802-EB3F-674D4067F978}"/>
              </a:ext>
            </a:extLst>
          </p:cNvPr>
          <p:cNvSpPr>
            <a:spLocks noGrp="1"/>
          </p:cNvSpPr>
          <p:nvPr>
            <p:ph type="title"/>
          </p:nvPr>
        </p:nvSpPr>
        <p:spPr>
          <a:xfrm>
            <a:off x="1595840" y="-22661"/>
            <a:ext cx="10515600" cy="1325563"/>
          </a:xfrm>
        </p:spPr>
        <p:txBody>
          <a:bodyPr>
            <a:noAutofit/>
          </a:bodyPr>
          <a:lstStyle/>
          <a:p>
            <a:r>
              <a:rPr lang="en-US" sz="4000" b="1" dirty="0">
                <a:solidFill>
                  <a:schemeClr val="accent1"/>
                </a:solidFill>
              </a:rPr>
              <a:t>Module 1- Project Upload and Secure File Management Description</a:t>
            </a:r>
            <a:endParaRPr lang="en-IN" sz="4000" b="1" dirty="0">
              <a:solidFill>
                <a:schemeClr val="accent1"/>
              </a:solidFill>
            </a:endParaRPr>
          </a:p>
        </p:txBody>
      </p:sp>
      <p:sp>
        <p:nvSpPr>
          <p:cNvPr id="9" name="Content Placeholder 8">
            <a:extLst>
              <a:ext uri="{FF2B5EF4-FFF2-40B4-BE49-F238E27FC236}">
                <a16:creationId xmlns:a16="http://schemas.microsoft.com/office/drawing/2014/main" id="{03A1CEB5-49FE-45B4-71B2-554A7D95A6BD}"/>
              </a:ext>
            </a:extLst>
          </p:cNvPr>
          <p:cNvSpPr>
            <a:spLocks noGrp="1"/>
          </p:cNvSpPr>
          <p:nvPr>
            <p:ph idx="1"/>
          </p:nvPr>
        </p:nvSpPr>
        <p:spPr>
          <a:xfrm>
            <a:off x="473725" y="1302902"/>
            <a:ext cx="11971663" cy="4656635"/>
          </a:xfrm>
        </p:spPr>
        <p:txBody>
          <a:bodyPr/>
          <a:lstStyle/>
          <a:p>
            <a:pPr marL="0" indent="0">
              <a:lnSpc>
                <a:spcPct val="150000"/>
              </a:lnSpc>
              <a:buNone/>
            </a:pPr>
            <a:r>
              <a:rPr lang="en-US" sz="2400" dirty="0">
                <a:latin typeface="Arial" panose="020B0604020202020204" pitchFamily="34" charset="0"/>
                <a:cs typeface="Arial" panose="020B0604020202020204" pitchFamily="34" charset="0"/>
              </a:rPr>
              <a:t>This module provides a secure interface for uploading Java or Spring Boot projects in ZIP format. It validates the uploaded file, stores it safely on the server, extracts the project contents, and prepares the project for further security analysis</a:t>
            </a:r>
            <a:r>
              <a:rPr lang="en-US" dirty="0"/>
              <a:t>.</a:t>
            </a:r>
            <a:endParaRPr lang="en-IN" dirty="0"/>
          </a:p>
        </p:txBody>
      </p:sp>
      <p:sp>
        <p:nvSpPr>
          <p:cNvPr id="11" name="TextBox 10">
            <a:extLst>
              <a:ext uri="{FF2B5EF4-FFF2-40B4-BE49-F238E27FC236}">
                <a16:creationId xmlns:a16="http://schemas.microsoft.com/office/drawing/2014/main" id="{A6160BEE-3595-F566-8294-A8852FD844F3}"/>
              </a:ext>
            </a:extLst>
          </p:cNvPr>
          <p:cNvSpPr txBox="1"/>
          <p:nvPr/>
        </p:nvSpPr>
        <p:spPr>
          <a:xfrm>
            <a:off x="473725" y="3152001"/>
            <a:ext cx="6224530" cy="553998"/>
          </a:xfrm>
          <a:prstGeom prst="rect">
            <a:avLst/>
          </a:prstGeom>
          <a:noFill/>
        </p:spPr>
        <p:txBody>
          <a:bodyPr wrap="square">
            <a:spAutoFit/>
          </a:bodyPr>
          <a:lstStyle/>
          <a:p>
            <a:r>
              <a:rPr lang="en-IN" sz="3000" b="1" dirty="0">
                <a:solidFill>
                  <a:schemeClr val="accent1"/>
                </a:solidFill>
                <a:latin typeface="Arial" panose="020B0604020202020204" pitchFamily="34" charset="0"/>
                <a:cs typeface="Arial" panose="020B0604020202020204" pitchFamily="34" charset="0"/>
              </a:rPr>
              <a:t>Functions</a:t>
            </a:r>
          </a:p>
        </p:txBody>
      </p:sp>
      <p:sp>
        <p:nvSpPr>
          <p:cNvPr id="15" name="TextBox 14">
            <a:extLst>
              <a:ext uri="{FF2B5EF4-FFF2-40B4-BE49-F238E27FC236}">
                <a16:creationId xmlns:a16="http://schemas.microsoft.com/office/drawing/2014/main" id="{C7CCD429-7F16-BCCB-A3A0-3571CFAE3240}"/>
              </a:ext>
            </a:extLst>
          </p:cNvPr>
          <p:cNvSpPr txBox="1"/>
          <p:nvPr/>
        </p:nvSpPr>
        <p:spPr>
          <a:xfrm>
            <a:off x="473725" y="3631219"/>
            <a:ext cx="2335576" cy="3226781"/>
          </a:xfrm>
          <a:prstGeom prst="rect">
            <a:avLst/>
          </a:prstGeom>
          <a:noFill/>
        </p:spPr>
        <p:txBody>
          <a:bodyPr wrap="square">
            <a:spAutoFit/>
          </a:bodyPr>
          <a:lstStyle/>
          <a:p>
            <a:pPr>
              <a:lnSpc>
                <a:spcPct val="150000"/>
              </a:lnSpc>
            </a:pPr>
            <a:r>
              <a:rPr lang="en-IN" sz="2300" dirty="0"/>
              <a:t>ZIP project  validationUpload statusZIP extractionProject storageProject initialization</a:t>
            </a:r>
          </a:p>
        </p:txBody>
      </p:sp>
      <p:sp>
        <p:nvSpPr>
          <p:cNvPr id="17" name="TextBox 16">
            <a:extLst>
              <a:ext uri="{FF2B5EF4-FFF2-40B4-BE49-F238E27FC236}">
                <a16:creationId xmlns:a16="http://schemas.microsoft.com/office/drawing/2014/main" id="{17E71BF4-4AA1-CC2C-0FBA-95492492CDA7}"/>
              </a:ext>
            </a:extLst>
          </p:cNvPr>
          <p:cNvSpPr txBox="1"/>
          <p:nvPr/>
        </p:nvSpPr>
        <p:spPr>
          <a:xfrm>
            <a:off x="5191472" y="3446553"/>
            <a:ext cx="6224530" cy="461665"/>
          </a:xfrm>
          <a:prstGeom prst="rect">
            <a:avLst/>
          </a:prstGeom>
          <a:noFill/>
        </p:spPr>
        <p:txBody>
          <a:bodyPr wrap="square">
            <a:spAutoFit/>
          </a:bodyPr>
          <a:lstStyle/>
          <a:p>
            <a:r>
              <a:rPr lang="en-IN" sz="2400" b="1" dirty="0">
                <a:solidFill>
                  <a:schemeClr val="tx2">
                    <a:lumMod val="90000"/>
                    <a:lumOff val="10000"/>
                  </a:schemeClr>
                </a:solidFill>
                <a:latin typeface="Arial" panose="020B0604020202020204" pitchFamily="34" charset="0"/>
                <a:cs typeface="Arial" panose="020B0604020202020204" pitchFamily="34" charset="0"/>
              </a:rPr>
              <a:t>Input</a:t>
            </a:r>
          </a:p>
        </p:txBody>
      </p:sp>
      <p:sp>
        <p:nvSpPr>
          <p:cNvPr id="20" name="TextBox 19">
            <a:extLst>
              <a:ext uri="{FF2B5EF4-FFF2-40B4-BE49-F238E27FC236}">
                <a16:creationId xmlns:a16="http://schemas.microsoft.com/office/drawing/2014/main" id="{0424BAA3-57D2-26DA-3324-A81A6D5BE98E}"/>
              </a:ext>
            </a:extLst>
          </p:cNvPr>
          <p:cNvSpPr txBox="1"/>
          <p:nvPr/>
        </p:nvSpPr>
        <p:spPr>
          <a:xfrm>
            <a:off x="6459556" y="3446552"/>
            <a:ext cx="6224530" cy="461665"/>
          </a:xfrm>
          <a:prstGeom prst="rect">
            <a:avLst/>
          </a:prstGeom>
          <a:noFill/>
        </p:spPr>
        <p:txBody>
          <a:bodyPr wrap="square">
            <a:spAutoFit/>
          </a:bodyPr>
          <a:lstStyle/>
          <a:p>
            <a:r>
              <a:rPr lang="en-IN" sz="2400" dirty="0">
                <a:solidFill>
                  <a:schemeClr val="accent1"/>
                </a:solidFill>
                <a:latin typeface="Arial" panose="020B0604020202020204" pitchFamily="34" charset="0"/>
                <a:cs typeface="Arial" panose="020B0604020202020204" pitchFamily="34" charset="0"/>
              </a:rPr>
              <a:t>Java/Spring Boot ZIP Project</a:t>
            </a:r>
          </a:p>
        </p:txBody>
      </p:sp>
      <p:sp>
        <p:nvSpPr>
          <p:cNvPr id="22" name="TextBox 21">
            <a:extLst>
              <a:ext uri="{FF2B5EF4-FFF2-40B4-BE49-F238E27FC236}">
                <a16:creationId xmlns:a16="http://schemas.microsoft.com/office/drawing/2014/main" id="{035046D6-8AE8-856C-B126-F074B7731014}"/>
              </a:ext>
            </a:extLst>
          </p:cNvPr>
          <p:cNvSpPr txBox="1"/>
          <p:nvPr/>
        </p:nvSpPr>
        <p:spPr>
          <a:xfrm>
            <a:off x="5191472" y="4172782"/>
            <a:ext cx="6340206" cy="446276"/>
          </a:xfrm>
          <a:prstGeom prst="rect">
            <a:avLst/>
          </a:prstGeom>
          <a:noFill/>
        </p:spPr>
        <p:txBody>
          <a:bodyPr wrap="square">
            <a:spAutoFit/>
          </a:bodyPr>
          <a:lstStyle/>
          <a:p>
            <a:r>
              <a:rPr lang="en-IN" sz="2300" b="1" dirty="0">
                <a:solidFill>
                  <a:schemeClr val="tx2">
                    <a:lumMod val="90000"/>
                    <a:lumOff val="10000"/>
                  </a:schemeClr>
                </a:solidFill>
                <a:latin typeface="Arial" panose="020B0604020202020204" pitchFamily="34" charset="0"/>
                <a:cs typeface="Arial" panose="020B0604020202020204" pitchFamily="34" charset="0"/>
              </a:rPr>
              <a:t>Output</a:t>
            </a:r>
          </a:p>
        </p:txBody>
      </p:sp>
      <p:sp>
        <p:nvSpPr>
          <p:cNvPr id="3" name="TextBox 2">
            <a:extLst>
              <a:ext uri="{FF2B5EF4-FFF2-40B4-BE49-F238E27FC236}">
                <a16:creationId xmlns:a16="http://schemas.microsoft.com/office/drawing/2014/main" id="{42D8DFB4-8A1E-EA94-4EAB-624970AB270D}"/>
              </a:ext>
            </a:extLst>
          </p:cNvPr>
          <p:cNvSpPr txBox="1"/>
          <p:nvPr/>
        </p:nvSpPr>
        <p:spPr>
          <a:xfrm>
            <a:off x="6459556" y="4165087"/>
            <a:ext cx="6340928" cy="461665"/>
          </a:xfrm>
          <a:prstGeom prst="rect">
            <a:avLst/>
          </a:prstGeom>
          <a:noFill/>
        </p:spPr>
        <p:txBody>
          <a:bodyPr wrap="square">
            <a:spAutoFit/>
          </a:bodyPr>
          <a:lstStyle/>
          <a:p>
            <a:r>
              <a:rPr lang="en-IN" sz="2400" dirty="0">
                <a:solidFill>
                  <a:schemeClr val="accent1">
                    <a:lumMod val="75000"/>
                  </a:schemeClr>
                </a:solidFill>
                <a:latin typeface="Arial" panose="020B0604020202020204" pitchFamily="34" charset="0"/>
                <a:cs typeface="Arial" panose="020B0604020202020204" pitchFamily="34" charset="0"/>
              </a:rPr>
              <a:t>Extracted project ready for scanning.</a:t>
            </a:r>
          </a:p>
        </p:txBody>
      </p:sp>
    </p:spTree>
    <p:extLst>
      <p:ext uri="{BB962C8B-B14F-4D97-AF65-F5344CB8AC3E}">
        <p14:creationId xmlns:p14="http://schemas.microsoft.com/office/powerpoint/2010/main" val="3357513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F028A-9092-5D9E-7E9F-0AC1935300D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D5F5572-0F5C-AE77-E6F3-27161835EE06}"/>
              </a:ext>
            </a:extLst>
          </p:cNvPr>
          <p:cNvPicPr>
            <a:picLocks noChangeAspect="1"/>
          </p:cNvPicPr>
          <p:nvPr/>
        </p:nvPicPr>
        <p:blipFill>
          <a:blip r:embed="rId2"/>
          <a:stretch>
            <a:fillRect/>
          </a:stretch>
        </p:blipFill>
        <p:spPr>
          <a:xfrm>
            <a:off x="80560" y="14429"/>
            <a:ext cx="1412798" cy="1288473"/>
          </a:xfrm>
          <a:prstGeom prst="rect">
            <a:avLst/>
          </a:prstGeom>
        </p:spPr>
      </p:pic>
      <p:sp>
        <p:nvSpPr>
          <p:cNvPr id="5" name="Freeform 6">
            <a:extLst>
              <a:ext uri="{FF2B5EF4-FFF2-40B4-BE49-F238E27FC236}">
                <a16:creationId xmlns:a16="http://schemas.microsoft.com/office/drawing/2014/main" id="{B8EE9AC0-395E-0DE2-1D53-23E7C4BE8066}"/>
              </a:ext>
            </a:extLst>
          </p:cNvPr>
          <p:cNvSpPr/>
          <p:nvPr/>
        </p:nvSpPr>
        <p:spPr>
          <a:xfrm>
            <a:off x="10618082" y="0"/>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sp>
        <p:nvSpPr>
          <p:cNvPr id="11" name="TextBox 10">
            <a:extLst>
              <a:ext uri="{FF2B5EF4-FFF2-40B4-BE49-F238E27FC236}">
                <a16:creationId xmlns:a16="http://schemas.microsoft.com/office/drawing/2014/main" id="{AE4CF412-0263-434A-7EC8-33D2DBC894E3}"/>
              </a:ext>
            </a:extLst>
          </p:cNvPr>
          <p:cNvSpPr txBox="1"/>
          <p:nvPr/>
        </p:nvSpPr>
        <p:spPr>
          <a:xfrm>
            <a:off x="473723" y="3161859"/>
            <a:ext cx="6224530" cy="553998"/>
          </a:xfrm>
          <a:prstGeom prst="rect">
            <a:avLst/>
          </a:prstGeom>
          <a:noFill/>
        </p:spPr>
        <p:txBody>
          <a:bodyPr wrap="square">
            <a:spAutoFit/>
          </a:bodyPr>
          <a:lstStyle/>
          <a:p>
            <a:r>
              <a:rPr lang="en-IN" sz="3000" b="1" dirty="0">
                <a:solidFill>
                  <a:schemeClr val="accent1"/>
                </a:solidFill>
                <a:latin typeface="Arial" panose="020B0604020202020204" pitchFamily="34" charset="0"/>
                <a:cs typeface="Arial" panose="020B0604020202020204" pitchFamily="34" charset="0"/>
              </a:rPr>
              <a:t>Functions</a:t>
            </a:r>
          </a:p>
        </p:txBody>
      </p:sp>
      <p:sp>
        <p:nvSpPr>
          <p:cNvPr id="15" name="TextBox 14">
            <a:extLst>
              <a:ext uri="{FF2B5EF4-FFF2-40B4-BE49-F238E27FC236}">
                <a16:creationId xmlns:a16="http://schemas.microsoft.com/office/drawing/2014/main" id="{C2FA5025-19E6-8FF7-A576-037170F56E33}"/>
              </a:ext>
            </a:extLst>
          </p:cNvPr>
          <p:cNvSpPr txBox="1"/>
          <p:nvPr/>
        </p:nvSpPr>
        <p:spPr>
          <a:xfrm>
            <a:off x="473723" y="3631219"/>
            <a:ext cx="4152705" cy="2695866"/>
          </a:xfrm>
          <a:prstGeom prst="rect">
            <a:avLst/>
          </a:prstGeom>
          <a:noFill/>
        </p:spPr>
        <p:txBody>
          <a:bodyPr wrap="square">
            <a:spAutoFit/>
          </a:bodyPr>
          <a:lstStyle/>
          <a:p>
            <a:pPr>
              <a:lnSpc>
                <a:spcPct val="150000"/>
              </a:lnSpc>
            </a:pPr>
            <a:r>
              <a:rPr lang="en-US" sz="2300" dirty="0"/>
              <a:t>Recursive file scanning</a:t>
            </a:r>
          </a:p>
          <a:p>
            <a:pPr>
              <a:lnSpc>
                <a:spcPct val="150000"/>
              </a:lnSpc>
            </a:pPr>
            <a:r>
              <a:rPr lang="en-US" sz="2300" dirty="0"/>
              <a:t>Pattern matching</a:t>
            </a:r>
          </a:p>
          <a:p>
            <a:pPr>
              <a:lnSpc>
                <a:spcPct val="150000"/>
              </a:lnSpc>
            </a:pPr>
            <a:r>
              <a:rPr lang="en-US" sz="2300" dirty="0"/>
              <a:t>Security rule</a:t>
            </a:r>
          </a:p>
          <a:p>
            <a:pPr>
              <a:lnSpc>
                <a:spcPct val="150000"/>
              </a:lnSpc>
            </a:pPr>
            <a:r>
              <a:rPr lang="en-US" sz="2300" dirty="0"/>
              <a:t>Vulnerability identification</a:t>
            </a:r>
          </a:p>
          <a:p>
            <a:pPr>
              <a:lnSpc>
                <a:spcPct val="150000"/>
              </a:lnSpc>
            </a:pPr>
            <a:r>
              <a:rPr lang="en-US" sz="2300" dirty="0"/>
              <a:t>Severity classification</a:t>
            </a:r>
            <a:endParaRPr lang="en-IN" sz="2300" dirty="0"/>
          </a:p>
        </p:txBody>
      </p:sp>
      <p:sp>
        <p:nvSpPr>
          <p:cNvPr id="22" name="TextBox 21">
            <a:extLst>
              <a:ext uri="{FF2B5EF4-FFF2-40B4-BE49-F238E27FC236}">
                <a16:creationId xmlns:a16="http://schemas.microsoft.com/office/drawing/2014/main" id="{70BF3B71-4287-2339-2949-EA4B91674B83}"/>
              </a:ext>
            </a:extLst>
          </p:cNvPr>
          <p:cNvSpPr txBox="1"/>
          <p:nvPr/>
        </p:nvSpPr>
        <p:spPr>
          <a:xfrm>
            <a:off x="455139" y="6276519"/>
            <a:ext cx="6340206" cy="446276"/>
          </a:xfrm>
          <a:prstGeom prst="rect">
            <a:avLst/>
          </a:prstGeom>
          <a:noFill/>
        </p:spPr>
        <p:txBody>
          <a:bodyPr wrap="square">
            <a:spAutoFit/>
          </a:bodyPr>
          <a:lstStyle/>
          <a:p>
            <a:r>
              <a:rPr lang="en-IN" sz="2300" b="1" dirty="0">
                <a:solidFill>
                  <a:schemeClr val="tx2">
                    <a:lumMod val="90000"/>
                    <a:lumOff val="10000"/>
                  </a:schemeClr>
                </a:solidFill>
                <a:latin typeface="Arial" panose="020B0604020202020204" pitchFamily="34" charset="0"/>
                <a:cs typeface="Arial" panose="020B0604020202020204" pitchFamily="34" charset="0"/>
              </a:rPr>
              <a:t>Output</a:t>
            </a:r>
          </a:p>
        </p:txBody>
      </p:sp>
      <p:sp>
        <p:nvSpPr>
          <p:cNvPr id="3" name="TextBox 2">
            <a:extLst>
              <a:ext uri="{FF2B5EF4-FFF2-40B4-BE49-F238E27FC236}">
                <a16:creationId xmlns:a16="http://schemas.microsoft.com/office/drawing/2014/main" id="{E18CC541-3CFD-4E37-43DB-69166CC12111}"/>
              </a:ext>
            </a:extLst>
          </p:cNvPr>
          <p:cNvSpPr txBox="1"/>
          <p:nvPr/>
        </p:nvSpPr>
        <p:spPr>
          <a:xfrm>
            <a:off x="1641513" y="6216019"/>
            <a:ext cx="6340928" cy="461665"/>
          </a:xfrm>
          <a:prstGeom prst="rect">
            <a:avLst/>
          </a:prstGeom>
          <a:noFill/>
        </p:spPr>
        <p:txBody>
          <a:bodyPr wrap="square">
            <a:spAutoFit/>
          </a:bodyPr>
          <a:lstStyle/>
          <a:p>
            <a:r>
              <a:rPr lang="en-IN" sz="2400" dirty="0">
                <a:solidFill>
                  <a:schemeClr val="accent1">
                    <a:lumMod val="75000"/>
                  </a:schemeClr>
                </a:solidFill>
                <a:latin typeface="Arial" panose="020B0604020202020204" pitchFamily="34" charset="0"/>
                <a:cs typeface="Arial" panose="020B0604020202020204" pitchFamily="34" charset="0"/>
              </a:rPr>
              <a:t>List of detected vulnerabilities.</a:t>
            </a:r>
          </a:p>
        </p:txBody>
      </p:sp>
      <p:sp>
        <p:nvSpPr>
          <p:cNvPr id="6" name="Title 5">
            <a:extLst>
              <a:ext uri="{FF2B5EF4-FFF2-40B4-BE49-F238E27FC236}">
                <a16:creationId xmlns:a16="http://schemas.microsoft.com/office/drawing/2014/main" id="{AB56336E-5A75-13E5-B0B1-087BA001273F}"/>
              </a:ext>
            </a:extLst>
          </p:cNvPr>
          <p:cNvSpPr>
            <a:spLocks noGrp="1"/>
          </p:cNvSpPr>
          <p:nvPr>
            <p:ph type="title"/>
          </p:nvPr>
        </p:nvSpPr>
        <p:spPr>
          <a:xfrm>
            <a:off x="1641513" y="97325"/>
            <a:ext cx="9281974" cy="1325563"/>
          </a:xfrm>
        </p:spPr>
        <p:txBody>
          <a:bodyPr/>
          <a:lstStyle/>
          <a:p>
            <a:r>
              <a:rPr lang="en-US" b="1" dirty="0">
                <a:solidFill>
                  <a:schemeClr val="accent1">
                    <a:lumMod val="75000"/>
                  </a:schemeClr>
                </a:solidFill>
              </a:rPr>
              <a:t>Module 2 AI-Powered Vulnerability Detection Engine Description</a:t>
            </a:r>
            <a:endParaRPr lang="en-IN" b="1" dirty="0">
              <a:solidFill>
                <a:schemeClr val="accent1">
                  <a:lumMod val="75000"/>
                </a:schemeClr>
              </a:solidFill>
            </a:endParaRPr>
          </a:p>
        </p:txBody>
      </p:sp>
      <p:sp>
        <p:nvSpPr>
          <p:cNvPr id="10" name="Content Placeholder 9">
            <a:extLst>
              <a:ext uri="{FF2B5EF4-FFF2-40B4-BE49-F238E27FC236}">
                <a16:creationId xmlns:a16="http://schemas.microsoft.com/office/drawing/2014/main" id="{1E44E04B-F197-ADCF-3CEA-D094DCF72839}"/>
              </a:ext>
            </a:extLst>
          </p:cNvPr>
          <p:cNvSpPr>
            <a:spLocks noGrp="1"/>
          </p:cNvSpPr>
          <p:nvPr>
            <p:ph idx="1"/>
          </p:nvPr>
        </p:nvSpPr>
        <p:spPr>
          <a:xfrm>
            <a:off x="407887" y="1422888"/>
            <a:ext cx="10515600" cy="4351338"/>
          </a:xfrm>
        </p:spPr>
        <p:txBody>
          <a:bodyPr/>
          <a:lstStyle/>
          <a:p>
            <a:pPr>
              <a:lnSpc>
                <a:spcPct val="150000"/>
              </a:lnSpc>
            </a:pPr>
            <a:r>
              <a:rPr lang="en-US" sz="2400" dirty="0">
                <a:latin typeface="Arial" panose="020B0604020202020204" pitchFamily="34" charset="0"/>
                <a:cs typeface="Arial" panose="020B0604020202020204" pitchFamily="34" charset="0"/>
              </a:rPr>
              <a:t>This module performs static source code analysis by scanning every file inside the uploaded project. It detects security vulnerabilities using predefined security rules and pattern matching techniques</a:t>
            </a:r>
            <a:r>
              <a:rPr lang="en-US" dirty="0"/>
              <a:t>.</a:t>
            </a:r>
            <a:endParaRPr lang="en-IN" dirty="0"/>
          </a:p>
        </p:txBody>
      </p:sp>
      <p:sp>
        <p:nvSpPr>
          <p:cNvPr id="13" name="TextBox 12">
            <a:extLst>
              <a:ext uri="{FF2B5EF4-FFF2-40B4-BE49-F238E27FC236}">
                <a16:creationId xmlns:a16="http://schemas.microsoft.com/office/drawing/2014/main" id="{695BB185-FFF6-16ED-B1A0-0E8B1980E32B}"/>
              </a:ext>
            </a:extLst>
          </p:cNvPr>
          <p:cNvSpPr txBox="1"/>
          <p:nvPr/>
        </p:nvSpPr>
        <p:spPr>
          <a:xfrm>
            <a:off x="7870045" y="3161859"/>
            <a:ext cx="6106884" cy="461665"/>
          </a:xfrm>
          <a:prstGeom prst="rect">
            <a:avLst/>
          </a:prstGeom>
          <a:noFill/>
        </p:spPr>
        <p:txBody>
          <a:bodyPr wrap="square">
            <a:spAutoFit/>
          </a:bodyPr>
          <a:lstStyle/>
          <a:p>
            <a:r>
              <a:rPr lang="en-IN" sz="2400" b="1" dirty="0">
                <a:solidFill>
                  <a:schemeClr val="accent1">
                    <a:lumMod val="75000"/>
                  </a:schemeClr>
                </a:solidFill>
                <a:latin typeface="Arial" panose="020B0604020202020204" pitchFamily="34" charset="0"/>
                <a:cs typeface="Arial" panose="020B0604020202020204" pitchFamily="34" charset="0"/>
              </a:rPr>
              <a:t>How It Works</a:t>
            </a:r>
          </a:p>
        </p:txBody>
      </p:sp>
      <p:sp>
        <p:nvSpPr>
          <p:cNvPr id="16" name="TextBox 15">
            <a:extLst>
              <a:ext uri="{FF2B5EF4-FFF2-40B4-BE49-F238E27FC236}">
                <a16:creationId xmlns:a16="http://schemas.microsoft.com/office/drawing/2014/main" id="{067062CC-1D42-9C52-C6B4-54498BB030D7}"/>
              </a:ext>
            </a:extLst>
          </p:cNvPr>
          <p:cNvSpPr txBox="1"/>
          <p:nvPr/>
        </p:nvSpPr>
        <p:spPr>
          <a:xfrm>
            <a:off x="7259991" y="3675807"/>
            <a:ext cx="4953931" cy="3046988"/>
          </a:xfrm>
          <a:prstGeom prst="rect">
            <a:avLst/>
          </a:prstGeom>
          <a:noFill/>
        </p:spPr>
        <p:txBody>
          <a:bodyPr wrap="square">
            <a:spAutoFit/>
          </a:bodyPr>
          <a:lstStyle/>
          <a:p>
            <a:r>
              <a:rPr lang="en-IN" sz="2400" dirty="0">
                <a:latin typeface="Arial" panose="020B0604020202020204" pitchFamily="34" charset="0"/>
                <a:cs typeface="Arial" panose="020B0604020202020204" pitchFamily="34" charset="0"/>
              </a:rPr>
              <a:t>Source Code Upload</a:t>
            </a:r>
          </a:p>
          <a:p>
            <a:r>
              <a:rPr lang="en-IN" sz="2400" dirty="0">
                <a:latin typeface="Arial" panose="020B0604020202020204" pitchFamily="34" charset="0"/>
                <a:cs typeface="Arial" panose="020B0604020202020204" pitchFamily="34" charset="0"/>
              </a:rPr>
              <a:t>               ↓</a:t>
            </a:r>
          </a:p>
          <a:p>
            <a:r>
              <a:rPr lang="en-IN" sz="2400" dirty="0">
                <a:latin typeface="Arial" panose="020B0604020202020204" pitchFamily="34" charset="0"/>
                <a:cs typeface="Arial" panose="020B0604020202020204" pitchFamily="34" charset="0"/>
              </a:rPr>
              <a:t>AI Scans &amp; Analyzes the Code</a:t>
            </a:r>
          </a:p>
          <a:p>
            <a:r>
              <a:rPr lang="en-IN" sz="2400" dirty="0">
                <a:latin typeface="Arial" panose="020B0604020202020204" pitchFamily="34" charset="0"/>
                <a:cs typeface="Arial" panose="020B0604020202020204" pitchFamily="34" charset="0"/>
              </a:rPr>
              <a:t>               ↓</a:t>
            </a:r>
          </a:p>
          <a:p>
            <a:r>
              <a:rPr lang="en-IN" sz="2400" dirty="0">
                <a:latin typeface="Arial" panose="020B0604020202020204" pitchFamily="34" charset="0"/>
                <a:cs typeface="Arial" panose="020B0604020202020204" pitchFamily="34" charset="0"/>
              </a:rPr>
              <a:t>Detects Security Vulnerabilities</a:t>
            </a:r>
          </a:p>
          <a:p>
            <a:r>
              <a:rPr lang="en-IN" sz="2400" dirty="0">
                <a:latin typeface="Arial" panose="020B0604020202020204" pitchFamily="34" charset="0"/>
                <a:cs typeface="Arial" panose="020B0604020202020204" pitchFamily="34" charset="0"/>
              </a:rPr>
              <a:t>               ↓</a:t>
            </a:r>
          </a:p>
          <a:p>
            <a:r>
              <a:rPr lang="en-IN" sz="2400" dirty="0">
                <a:latin typeface="Arial" panose="020B0604020202020204" pitchFamily="34" charset="0"/>
                <a:cs typeface="Arial" panose="020B0604020202020204" pitchFamily="34" charset="0"/>
              </a:rPr>
              <a:t>Generates Report with Risk Level &amp; Fix Suggestions</a:t>
            </a:r>
          </a:p>
        </p:txBody>
      </p:sp>
    </p:spTree>
    <p:extLst>
      <p:ext uri="{BB962C8B-B14F-4D97-AF65-F5344CB8AC3E}">
        <p14:creationId xmlns:p14="http://schemas.microsoft.com/office/powerpoint/2010/main" val="3435383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FD025-9EEC-DFDC-94ED-BBE6ADC63E8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4837213-9754-6D12-934E-8C0B6C63DE3E}"/>
              </a:ext>
            </a:extLst>
          </p:cNvPr>
          <p:cNvPicPr>
            <a:picLocks noChangeAspect="1"/>
          </p:cNvPicPr>
          <p:nvPr/>
        </p:nvPicPr>
        <p:blipFill>
          <a:blip r:embed="rId2"/>
          <a:stretch>
            <a:fillRect/>
          </a:stretch>
        </p:blipFill>
        <p:spPr>
          <a:xfrm>
            <a:off x="80560" y="14429"/>
            <a:ext cx="1412798" cy="1288473"/>
          </a:xfrm>
          <a:prstGeom prst="rect">
            <a:avLst/>
          </a:prstGeom>
        </p:spPr>
      </p:pic>
      <p:sp>
        <p:nvSpPr>
          <p:cNvPr id="5" name="Freeform 6">
            <a:extLst>
              <a:ext uri="{FF2B5EF4-FFF2-40B4-BE49-F238E27FC236}">
                <a16:creationId xmlns:a16="http://schemas.microsoft.com/office/drawing/2014/main" id="{D62136EC-E7F9-9D34-5609-7E1279E63E4B}"/>
              </a:ext>
            </a:extLst>
          </p:cNvPr>
          <p:cNvSpPr/>
          <p:nvPr/>
        </p:nvSpPr>
        <p:spPr>
          <a:xfrm>
            <a:off x="10618082" y="0"/>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sp>
        <p:nvSpPr>
          <p:cNvPr id="11" name="TextBox 10">
            <a:extLst>
              <a:ext uri="{FF2B5EF4-FFF2-40B4-BE49-F238E27FC236}">
                <a16:creationId xmlns:a16="http://schemas.microsoft.com/office/drawing/2014/main" id="{294BFA36-14CD-CEE9-37A7-BAB8FFACA189}"/>
              </a:ext>
            </a:extLst>
          </p:cNvPr>
          <p:cNvSpPr txBox="1"/>
          <p:nvPr/>
        </p:nvSpPr>
        <p:spPr>
          <a:xfrm>
            <a:off x="473723" y="3161859"/>
            <a:ext cx="6224530" cy="553998"/>
          </a:xfrm>
          <a:prstGeom prst="rect">
            <a:avLst/>
          </a:prstGeom>
          <a:noFill/>
        </p:spPr>
        <p:txBody>
          <a:bodyPr wrap="square">
            <a:spAutoFit/>
          </a:bodyPr>
          <a:lstStyle/>
          <a:p>
            <a:r>
              <a:rPr lang="en-IN" sz="3000" b="1" dirty="0">
                <a:solidFill>
                  <a:schemeClr val="accent1"/>
                </a:solidFill>
                <a:latin typeface="Arial" panose="020B0604020202020204" pitchFamily="34" charset="0"/>
                <a:cs typeface="Arial" panose="020B0604020202020204" pitchFamily="34" charset="0"/>
              </a:rPr>
              <a:t>Functions</a:t>
            </a:r>
          </a:p>
        </p:txBody>
      </p:sp>
      <p:sp>
        <p:nvSpPr>
          <p:cNvPr id="15" name="TextBox 14">
            <a:extLst>
              <a:ext uri="{FF2B5EF4-FFF2-40B4-BE49-F238E27FC236}">
                <a16:creationId xmlns:a16="http://schemas.microsoft.com/office/drawing/2014/main" id="{5BB2B4E4-1FE5-BF2A-48E3-DBBB7B10A7D0}"/>
              </a:ext>
            </a:extLst>
          </p:cNvPr>
          <p:cNvSpPr txBox="1"/>
          <p:nvPr/>
        </p:nvSpPr>
        <p:spPr>
          <a:xfrm>
            <a:off x="473723" y="3631219"/>
            <a:ext cx="4109163" cy="3226781"/>
          </a:xfrm>
          <a:prstGeom prst="rect">
            <a:avLst/>
          </a:prstGeom>
          <a:noFill/>
        </p:spPr>
        <p:txBody>
          <a:bodyPr wrap="square">
            <a:spAutoFit/>
          </a:bodyPr>
          <a:lstStyle/>
          <a:p>
            <a:pPr>
              <a:lnSpc>
                <a:spcPct val="150000"/>
              </a:lnSpc>
            </a:pPr>
            <a:r>
              <a:rPr lang="en-US" sz="2300" dirty="0"/>
              <a:t>Count vulnerabilities</a:t>
            </a:r>
          </a:p>
          <a:p>
            <a:pPr>
              <a:lnSpc>
                <a:spcPct val="150000"/>
              </a:lnSpc>
            </a:pPr>
            <a:r>
              <a:rPr lang="en-US" sz="2300" dirty="0"/>
              <a:t>Calculate security score</a:t>
            </a:r>
          </a:p>
          <a:p>
            <a:pPr>
              <a:lnSpc>
                <a:spcPct val="150000"/>
              </a:lnSpc>
            </a:pPr>
            <a:r>
              <a:rPr lang="en-US" sz="2300" dirty="0"/>
              <a:t>Risk level determination</a:t>
            </a:r>
          </a:p>
          <a:p>
            <a:pPr>
              <a:lnSpc>
                <a:spcPct val="150000"/>
              </a:lnSpc>
            </a:pPr>
            <a:r>
              <a:rPr lang="en-US" sz="2300" dirty="0"/>
              <a:t>Project statistics</a:t>
            </a:r>
          </a:p>
          <a:p>
            <a:pPr>
              <a:lnSpc>
                <a:spcPct val="150000"/>
              </a:lnSpc>
            </a:pPr>
            <a:r>
              <a:rPr lang="en-US" sz="2300" dirty="0"/>
              <a:t>Security recommendations</a:t>
            </a:r>
          </a:p>
          <a:p>
            <a:pPr>
              <a:lnSpc>
                <a:spcPct val="150000"/>
              </a:lnSpc>
            </a:pPr>
            <a:r>
              <a:rPr lang="en-US" sz="2300" dirty="0"/>
              <a:t>AI recommendation generation</a:t>
            </a:r>
            <a:endParaRPr lang="en-IN" sz="2300" dirty="0"/>
          </a:p>
        </p:txBody>
      </p:sp>
      <p:sp>
        <p:nvSpPr>
          <p:cNvPr id="3" name="TextBox 2">
            <a:extLst>
              <a:ext uri="{FF2B5EF4-FFF2-40B4-BE49-F238E27FC236}">
                <a16:creationId xmlns:a16="http://schemas.microsoft.com/office/drawing/2014/main" id="{628DD103-4AFF-A7AA-7DC6-A854A80BBFAD}"/>
              </a:ext>
            </a:extLst>
          </p:cNvPr>
          <p:cNvSpPr txBox="1"/>
          <p:nvPr/>
        </p:nvSpPr>
        <p:spPr>
          <a:xfrm>
            <a:off x="1641513" y="6216019"/>
            <a:ext cx="6340928" cy="461665"/>
          </a:xfrm>
          <a:prstGeom prst="rect">
            <a:avLst/>
          </a:prstGeom>
          <a:noFill/>
        </p:spPr>
        <p:txBody>
          <a:bodyPr wrap="square">
            <a:spAutoFit/>
          </a:bodyPr>
          <a:lstStyle/>
          <a:p>
            <a:r>
              <a:rPr lang="en-IN" sz="2400" dirty="0">
                <a:solidFill>
                  <a:schemeClr val="accent1">
                    <a:lumMod val="75000"/>
                  </a:schemeClr>
                </a:solidFill>
                <a:latin typeface="Arial" panose="020B0604020202020204" pitchFamily="34" charset="0"/>
                <a:cs typeface="Arial" panose="020B0604020202020204" pitchFamily="34" charset="0"/>
              </a:rPr>
              <a:t>.</a:t>
            </a:r>
          </a:p>
        </p:txBody>
      </p:sp>
      <p:sp>
        <p:nvSpPr>
          <p:cNvPr id="10" name="Content Placeholder 9">
            <a:extLst>
              <a:ext uri="{FF2B5EF4-FFF2-40B4-BE49-F238E27FC236}">
                <a16:creationId xmlns:a16="http://schemas.microsoft.com/office/drawing/2014/main" id="{AAF68386-D618-9804-691E-7B4669AF1F8D}"/>
              </a:ext>
            </a:extLst>
          </p:cNvPr>
          <p:cNvSpPr>
            <a:spLocks noGrp="1"/>
          </p:cNvSpPr>
          <p:nvPr>
            <p:ph idx="1"/>
          </p:nvPr>
        </p:nvSpPr>
        <p:spPr>
          <a:xfrm>
            <a:off x="407887" y="1302903"/>
            <a:ext cx="10515600" cy="1923878"/>
          </a:xfrm>
        </p:spPr>
        <p:txBody>
          <a:bodyPr>
            <a:normAutofit lnSpcReduction="10000"/>
          </a:bodyPr>
          <a:lstStyle/>
          <a:p>
            <a:pPr>
              <a:lnSpc>
                <a:spcPct val="150000"/>
              </a:lnSpc>
            </a:pPr>
            <a:r>
              <a:rPr lang="en-US" dirty="0"/>
              <a:t>This module evaluates the vulnerabilities detected during scanning and determines the overall security posture of the uploaded project. </a:t>
            </a:r>
          </a:p>
          <a:p>
            <a:pPr>
              <a:lnSpc>
                <a:spcPct val="150000"/>
              </a:lnSpc>
            </a:pPr>
            <a:endParaRPr lang="en-IN" dirty="0"/>
          </a:p>
        </p:txBody>
      </p:sp>
      <p:sp>
        <p:nvSpPr>
          <p:cNvPr id="7" name="Title 6">
            <a:extLst>
              <a:ext uri="{FF2B5EF4-FFF2-40B4-BE49-F238E27FC236}">
                <a16:creationId xmlns:a16="http://schemas.microsoft.com/office/drawing/2014/main" id="{7B9703A3-9EA5-BEDA-338F-5A18DD5DAB74}"/>
              </a:ext>
            </a:extLst>
          </p:cNvPr>
          <p:cNvSpPr>
            <a:spLocks noGrp="1"/>
          </p:cNvSpPr>
          <p:nvPr>
            <p:ph type="title"/>
          </p:nvPr>
        </p:nvSpPr>
        <p:spPr>
          <a:xfrm>
            <a:off x="1493358" y="97325"/>
            <a:ext cx="9620956" cy="1325563"/>
          </a:xfrm>
        </p:spPr>
        <p:txBody>
          <a:bodyPr>
            <a:normAutofit/>
          </a:bodyPr>
          <a:lstStyle/>
          <a:p>
            <a:r>
              <a:rPr lang="en-US" sz="4000" b="1" dirty="0">
                <a:solidFill>
                  <a:schemeClr val="accent1">
                    <a:lumMod val="75000"/>
                  </a:schemeClr>
                </a:solidFill>
                <a:latin typeface="Arial" panose="020B0604020202020204" pitchFamily="34" charset="0"/>
                <a:cs typeface="Arial" panose="020B0604020202020204" pitchFamily="34" charset="0"/>
              </a:rPr>
              <a:t>Module 3 Secure Code Review and Risk Assessment Description</a:t>
            </a:r>
            <a:endParaRPr lang="en-IN" sz="4000" b="1" dirty="0">
              <a:solidFill>
                <a:schemeClr val="accent1">
                  <a:lumMod val="75000"/>
                </a:schemeClr>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A1C364C3-8FA2-47F4-B63F-4A1072598A22}"/>
              </a:ext>
            </a:extLst>
          </p:cNvPr>
          <p:cNvSpPr txBox="1"/>
          <p:nvPr/>
        </p:nvSpPr>
        <p:spPr>
          <a:xfrm>
            <a:off x="5348693" y="2973888"/>
            <a:ext cx="6340206" cy="446276"/>
          </a:xfrm>
          <a:prstGeom prst="rect">
            <a:avLst/>
          </a:prstGeom>
          <a:noFill/>
        </p:spPr>
        <p:txBody>
          <a:bodyPr wrap="square">
            <a:spAutoFit/>
          </a:bodyPr>
          <a:lstStyle/>
          <a:p>
            <a:r>
              <a:rPr lang="en-IN" sz="2300" b="1" dirty="0">
                <a:solidFill>
                  <a:schemeClr val="tx2">
                    <a:lumMod val="90000"/>
                    <a:lumOff val="10000"/>
                  </a:schemeClr>
                </a:solidFill>
                <a:latin typeface="Arial" panose="020B0604020202020204" pitchFamily="34" charset="0"/>
                <a:cs typeface="Arial" panose="020B0604020202020204" pitchFamily="34" charset="0"/>
              </a:rPr>
              <a:t>Output</a:t>
            </a:r>
          </a:p>
        </p:txBody>
      </p:sp>
      <p:sp>
        <p:nvSpPr>
          <p:cNvPr id="25" name="TextBox 24">
            <a:extLst>
              <a:ext uri="{FF2B5EF4-FFF2-40B4-BE49-F238E27FC236}">
                <a16:creationId xmlns:a16="http://schemas.microsoft.com/office/drawing/2014/main" id="{DE0B08A6-1DB1-A7B5-D1EA-DC20F7BDD30F}"/>
              </a:ext>
            </a:extLst>
          </p:cNvPr>
          <p:cNvSpPr txBox="1"/>
          <p:nvPr/>
        </p:nvSpPr>
        <p:spPr>
          <a:xfrm>
            <a:off x="6764089" y="2966194"/>
            <a:ext cx="6108852" cy="461665"/>
          </a:xfrm>
          <a:prstGeom prst="rect">
            <a:avLst/>
          </a:prstGeom>
          <a:noFill/>
        </p:spPr>
        <p:txBody>
          <a:bodyPr wrap="square">
            <a:spAutoFit/>
          </a:bodyPr>
          <a:lstStyle/>
          <a:p>
            <a:r>
              <a:rPr lang="en-IN" sz="2400" b="1" dirty="0">
                <a:solidFill>
                  <a:schemeClr val="tx2">
                    <a:lumMod val="75000"/>
                    <a:lumOff val="25000"/>
                  </a:schemeClr>
                </a:solidFill>
                <a:latin typeface="Arial" panose="020B0604020202020204" pitchFamily="34" charset="0"/>
                <a:cs typeface="Arial" panose="020B0604020202020204" pitchFamily="34" charset="0"/>
              </a:rPr>
              <a:t>Security Score</a:t>
            </a:r>
          </a:p>
        </p:txBody>
      </p:sp>
      <p:sp>
        <p:nvSpPr>
          <p:cNvPr id="27" name="TextBox 26">
            <a:extLst>
              <a:ext uri="{FF2B5EF4-FFF2-40B4-BE49-F238E27FC236}">
                <a16:creationId xmlns:a16="http://schemas.microsoft.com/office/drawing/2014/main" id="{300226FA-8045-31B3-1403-CECF0BCF9F44}"/>
              </a:ext>
            </a:extLst>
          </p:cNvPr>
          <p:cNvSpPr txBox="1"/>
          <p:nvPr/>
        </p:nvSpPr>
        <p:spPr>
          <a:xfrm>
            <a:off x="5166052" y="4000028"/>
            <a:ext cx="6705488" cy="2677656"/>
          </a:xfrm>
          <a:prstGeom prst="rect">
            <a:avLst/>
          </a:prstGeom>
          <a:noFill/>
        </p:spPr>
        <p:txBody>
          <a:bodyPr wrap="square">
            <a:spAutoFit/>
          </a:bodyPr>
          <a:lstStyle/>
          <a:p>
            <a:r>
              <a:rPr lang="en-IN" sz="2400" dirty="0">
                <a:latin typeface="Arial" panose="020B0604020202020204" pitchFamily="34" charset="0"/>
                <a:cs typeface="Arial" panose="020B0604020202020204" pitchFamily="34" charset="0"/>
              </a:rPr>
              <a:t>Source Code Review</a:t>
            </a:r>
          </a:p>
          <a:p>
            <a:r>
              <a:rPr lang="en-IN" sz="2400" dirty="0">
                <a:latin typeface="Arial" panose="020B0604020202020204" pitchFamily="34" charset="0"/>
                <a:cs typeface="Arial" panose="020B0604020202020204" pitchFamily="34" charset="0"/>
              </a:rPr>
              <a:t>          ↓</a:t>
            </a:r>
          </a:p>
          <a:p>
            <a:r>
              <a:rPr lang="en-IN" sz="2400" dirty="0">
                <a:latin typeface="Arial" panose="020B0604020202020204" pitchFamily="34" charset="0"/>
                <a:cs typeface="Arial" panose="020B0604020202020204" pitchFamily="34" charset="0"/>
              </a:rPr>
              <a:t>Identify Security Risks</a:t>
            </a:r>
          </a:p>
          <a:p>
            <a:r>
              <a:rPr lang="en-IN" sz="2400" dirty="0">
                <a:latin typeface="Arial" panose="020B0604020202020204" pitchFamily="34" charset="0"/>
                <a:cs typeface="Arial" panose="020B0604020202020204" pitchFamily="34" charset="0"/>
              </a:rPr>
              <a:t>          ↓</a:t>
            </a:r>
          </a:p>
          <a:p>
            <a:r>
              <a:rPr lang="en-IN" sz="2400" dirty="0">
                <a:latin typeface="Arial" panose="020B0604020202020204" pitchFamily="34" charset="0"/>
                <a:cs typeface="Arial" panose="020B0604020202020204" pitchFamily="34" charset="0"/>
              </a:rPr>
              <a:t>Assign Risk Level (Low/Medium/High/Critical)</a:t>
            </a:r>
          </a:p>
          <a:p>
            <a:r>
              <a:rPr lang="en-IN" sz="2400" dirty="0">
                <a:latin typeface="Arial" panose="020B0604020202020204" pitchFamily="34" charset="0"/>
                <a:cs typeface="Arial" panose="020B0604020202020204" pitchFamily="34" charset="0"/>
              </a:rPr>
              <a:t>          ↓</a:t>
            </a:r>
          </a:p>
          <a:p>
            <a:r>
              <a:rPr lang="en-IN" sz="2400" dirty="0">
                <a:latin typeface="Arial" panose="020B0604020202020204" pitchFamily="34" charset="0"/>
                <a:cs typeface="Arial" panose="020B0604020202020204" pitchFamily="34" charset="0"/>
              </a:rPr>
              <a:t>Provide Secure Coding Recommendations</a:t>
            </a:r>
          </a:p>
        </p:txBody>
      </p:sp>
      <p:sp>
        <p:nvSpPr>
          <p:cNvPr id="31" name="TextBox 30">
            <a:extLst>
              <a:ext uri="{FF2B5EF4-FFF2-40B4-BE49-F238E27FC236}">
                <a16:creationId xmlns:a16="http://schemas.microsoft.com/office/drawing/2014/main" id="{E152CF04-2412-C39D-09E3-514DB8243688}"/>
              </a:ext>
            </a:extLst>
          </p:cNvPr>
          <p:cNvSpPr txBox="1"/>
          <p:nvPr/>
        </p:nvSpPr>
        <p:spPr>
          <a:xfrm>
            <a:off x="5780072" y="3473502"/>
            <a:ext cx="6433850" cy="461665"/>
          </a:xfrm>
          <a:prstGeom prst="rect">
            <a:avLst/>
          </a:prstGeom>
          <a:noFill/>
        </p:spPr>
        <p:txBody>
          <a:bodyPr wrap="square">
            <a:spAutoFit/>
          </a:bodyPr>
          <a:lstStyle/>
          <a:p>
            <a:r>
              <a:rPr lang="en-IN" sz="2400" b="1" dirty="0">
                <a:solidFill>
                  <a:schemeClr val="accent1">
                    <a:lumMod val="75000"/>
                  </a:schemeClr>
                </a:solidFill>
                <a:latin typeface="Arial" panose="020B0604020202020204" pitchFamily="34" charset="0"/>
                <a:cs typeface="Arial" panose="020B0604020202020204" pitchFamily="34" charset="0"/>
              </a:rPr>
              <a:t> Work flow </a:t>
            </a:r>
          </a:p>
        </p:txBody>
      </p:sp>
    </p:spTree>
    <p:extLst>
      <p:ext uri="{BB962C8B-B14F-4D97-AF65-F5344CB8AC3E}">
        <p14:creationId xmlns:p14="http://schemas.microsoft.com/office/powerpoint/2010/main" val="437193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C37D7-D6D7-8D7B-F8A2-25AF91AA31B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EF0578E-B1E0-BC94-F3A2-41AB87291ABD}"/>
              </a:ext>
            </a:extLst>
          </p:cNvPr>
          <p:cNvPicPr>
            <a:picLocks noChangeAspect="1"/>
          </p:cNvPicPr>
          <p:nvPr/>
        </p:nvPicPr>
        <p:blipFill>
          <a:blip r:embed="rId2"/>
          <a:stretch>
            <a:fillRect/>
          </a:stretch>
        </p:blipFill>
        <p:spPr>
          <a:xfrm>
            <a:off x="80560" y="14429"/>
            <a:ext cx="1412798" cy="1288473"/>
          </a:xfrm>
          <a:prstGeom prst="rect">
            <a:avLst/>
          </a:prstGeom>
        </p:spPr>
      </p:pic>
      <p:sp>
        <p:nvSpPr>
          <p:cNvPr id="5" name="Freeform 6">
            <a:extLst>
              <a:ext uri="{FF2B5EF4-FFF2-40B4-BE49-F238E27FC236}">
                <a16:creationId xmlns:a16="http://schemas.microsoft.com/office/drawing/2014/main" id="{E137D2F1-78A8-659C-78D5-25CD188E2556}"/>
              </a:ext>
            </a:extLst>
          </p:cNvPr>
          <p:cNvSpPr/>
          <p:nvPr/>
        </p:nvSpPr>
        <p:spPr>
          <a:xfrm>
            <a:off x="10618082" y="0"/>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sp>
        <p:nvSpPr>
          <p:cNvPr id="11" name="TextBox 10">
            <a:extLst>
              <a:ext uri="{FF2B5EF4-FFF2-40B4-BE49-F238E27FC236}">
                <a16:creationId xmlns:a16="http://schemas.microsoft.com/office/drawing/2014/main" id="{51A78435-03AA-794C-D80C-A03D9AA22805}"/>
              </a:ext>
            </a:extLst>
          </p:cNvPr>
          <p:cNvSpPr txBox="1"/>
          <p:nvPr/>
        </p:nvSpPr>
        <p:spPr>
          <a:xfrm>
            <a:off x="786959" y="3077222"/>
            <a:ext cx="2374882" cy="553998"/>
          </a:xfrm>
          <a:prstGeom prst="rect">
            <a:avLst/>
          </a:prstGeom>
          <a:noFill/>
        </p:spPr>
        <p:txBody>
          <a:bodyPr wrap="square">
            <a:spAutoFit/>
          </a:bodyPr>
          <a:lstStyle/>
          <a:p>
            <a:r>
              <a:rPr lang="en-IN" sz="3000" b="1" dirty="0">
                <a:solidFill>
                  <a:schemeClr val="accent1"/>
                </a:solidFill>
                <a:latin typeface="Arial" panose="020B0604020202020204" pitchFamily="34" charset="0"/>
                <a:cs typeface="Arial" panose="020B0604020202020204" pitchFamily="34" charset="0"/>
              </a:rPr>
              <a:t>Functions</a:t>
            </a:r>
          </a:p>
        </p:txBody>
      </p:sp>
      <p:sp>
        <p:nvSpPr>
          <p:cNvPr id="3" name="TextBox 2">
            <a:extLst>
              <a:ext uri="{FF2B5EF4-FFF2-40B4-BE49-F238E27FC236}">
                <a16:creationId xmlns:a16="http://schemas.microsoft.com/office/drawing/2014/main" id="{9D2DED69-AEEF-A979-CE1B-DE0AC3E3DAAF}"/>
              </a:ext>
            </a:extLst>
          </p:cNvPr>
          <p:cNvSpPr txBox="1"/>
          <p:nvPr/>
        </p:nvSpPr>
        <p:spPr>
          <a:xfrm>
            <a:off x="1641513" y="6216019"/>
            <a:ext cx="6340928" cy="461665"/>
          </a:xfrm>
          <a:prstGeom prst="rect">
            <a:avLst/>
          </a:prstGeom>
          <a:noFill/>
        </p:spPr>
        <p:txBody>
          <a:bodyPr wrap="square">
            <a:spAutoFit/>
          </a:bodyPr>
          <a:lstStyle/>
          <a:p>
            <a:r>
              <a:rPr lang="en-IN" sz="2400" dirty="0">
                <a:solidFill>
                  <a:schemeClr val="accent1">
                    <a:lumMod val="75000"/>
                  </a:schemeClr>
                </a:solidFill>
                <a:latin typeface="Arial" panose="020B0604020202020204" pitchFamily="34" charset="0"/>
                <a:cs typeface="Arial" panose="020B0604020202020204" pitchFamily="34" charset="0"/>
              </a:rPr>
              <a:t>.</a:t>
            </a:r>
          </a:p>
        </p:txBody>
      </p:sp>
      <p:sp>
        <p:nvSpPr>
          <p:cNvPr id="10" name="Content Placeholder 9">
            <a:extLst>
              <a:ext uri="{FF2B5EF4-FFF2-40B4-BE49-F238E27FC236}">
                <a16:creationId xmlns:a16="http://schemas.microsoft.com/office/drawing/2014/main" id="{B72745E7-AC70-7CEA-78D3-8CFE40E9894E}"/>
              </a:ext>
            </a:extLst>
          </p:cNvPr>
          <p:cNvSpPr>
            <a:spLocks noGrp="1"/>
          </p:cNvSpPr>
          <p:nvPr>
            <p:ph idx="1"/>
          </p:nvPr>
        </p:nvSpPr>
        <p:spPr>
          <a:xfrm>
            <a:off x="407887" y="1302903"/>
            <a:ext cx="10515600" cy="1923878"/>
          </a:xfrm>
        </p:spPr>
        <p:txBody>
          <a:bodyPr>
            <a:normAutofit lnSpcReduction="10000"/>
          </a:bodyPr>
          <a:lstStyle/>
          <a:p>
            <a:pPr>
              <a:lnSpc>
                <a:spcPct val="150000"/>
              </a:lnSpc>
            </a:pPr>
            <a:r>
              <a:rPr lang="en-US" dirty="0"/>
              <a:t>This module presents the scan results in a user-friendly dashboard and generates downloadable security reports for developers.</a:t>
            </a:r>
            <a:endParaRPr lang="en-IN" dirty="0"/>
          </a:p>
        </p:txBody>
      </p:sp>
      <p:sp>
        <p:nvSpPr>
          <p:cNvPr id="6" name="Title 5">
            <a:extLst>
              <a:ext uri="{FF2B5EF4-FFF2-40B4-BE49-F238E27FC236}">
                <a16:creationId xmlns:a16="http://schemas.microsoft.com/office/drawing/2014/main" id="{ED1DFE8D-FB48-3D22-8A49-C46E8CF81344}"/>
              </a:ext>
            </a:extLst>
          </p:cNvPr>
          <p:cNvSpPr>
            <a:spLocks noGrp="1"/>
          </p:cNvSpPr>
          <p:nvPr>
            <p:ph type="title"/>
          </p:nvPr>
        </p:nvSpPr>
        <p:spPr>
          <a:xfrm>
            <a:off x="2156550" y="107975"/>
            <a:ext cx="9177629" cy="1325563"/>
          </a:xfrm>
        </p:spPr>
        <p:txBody>
          <a:bodyPr/>
          <a:lstStyle/>
          <a:p>
            <a:r>
              <a:rPr lang="en-US" dirty="0">
                <a:solidFill>
                  <a:schemeClr val="tx2">
                    <a:lumMod val="90000"/>
                    <a:lumOff val="10000"/>
                  </a:schemeClr>
                </a:solidFill>
              </a:rPr>
              <a:t>Module 4 Security Dashboard and Report Generation Description</a:t>
            </a:r>
            <a:endParaRPr lang="en-IN" dirty="0">
              <a:solidFill>
                <a:schemeClr val="tx2">
                  <a:lumMod val="90000"/>
                  <a:lumOff val="10000"/>
                </a:schemeClr>
              </a:solidFill>
            </a:endParaRPr>
          </a:p>
        </p:txBody>
      </p:sp>
      <p:sp>
        <p:nvSpPr>
          <p:cNvPr id="9" name="TextBox 8">
            <a:extLst>
              <a:ext uri="{FF2B5EF4-FFF2-40B4-BE49-F238E27FC236}">
                <a16:creationId xmlns:a16="http://schemas.microsoft.com/office/drawing/2014/main" id="{7790E18A-6A76-D935-64A1-1724E2DBC351}"/>
              </a:ext>
            </a:extLst>
          </p:cNvPr>
          <p:cNvSpPr txBox="1"/>
          <p:nvPr/>
        </p:nvSpPr>
        <p:spPr>
          <a:xfrm>
            <a:off x="572875" y="3510160"/>
            <a:ext cx="3657602" cy="3347840"/>
          </a:xfrm>
          <a:prstGeom prst="rect">
            <a:avLst/>
          </a:prstGeom>
          <a:noFill/>
        </p:spPr>
        <p:txBody>
          <a:bodyPr wrap="square">
            <a:spAutoFit/>
          </a:bodyPr>
          <a:lstStyle/>
          <a:p>
            <a:pPr>
              <a:lnSpc>
                <a:spcPct val="150000"/>
              </a:lnSpc>
            </a:pPr>
            <a:r>
              <a:rPr lang="en-IN" sz="2400" dirty="0">
                <a:latin typeface="Arial" panose="020B0604020202020204" pitchFamily="34" charset="0"/>
                <a:cs typeface="Arial" panose="020B0604020202020204" pitchFamily="34" charset="0"/>
              </a:rPr>
              <a:t>Interactive dashboard</a:t>
            </a:r>
          </a:p>
          <a:p>
            <a:pPr>
              <a:lnSpc>
                <a:spcPct val="150000"/>
              </a:lnSpc>
            </a:pPr>
            <a:r>
              <a:rPr lang="en-IN" sz="2400" dirty="0">
                <a:latin typeface="Arial" panose="020B0604020202020204" pitchFamily="34" charset="0"/>
                <a:cs typeface="Arial" panose="020B0604020202020204" pitchFamily="34" charset="0"/>
              </a:rPr>
              <a:t>Vulnerability table</a:t>
            </a:r>
          </a:p>
          <a:p>
            <a:pPr>
              <a:lnSpc>
                <a:spcPct val="150000"/>
              </a:lnSpc>
            </a:pPr>
            <a:r>
              <a:rPr lang="en-IN" sz="2400" dirty="0">
                <a:latin typeface="Arial" panose="020B0604020202020204" pitchFamily="34" charset="0"/>
                <a:cs typeface="Arial" panose="020B0604020202020204" pitchFamily="34" charset="0"/>
              </a:rPr>
              <a:t>Security score visualization</a:t>
            </a:r>
          </a:p>
          <a:p>
            <a:pPr>
              <a:lnSpc>
                <a:spcPct val="150000"/>
              </a:lnSpc>
            </a:pPr>
            <a:r>
              <a:rPr lang="en-IN" sz="2400" dirty="0">
                <a:latin typeface="Arial" panose="020B0604020202020204" pitchFamily="34" charset="0"/>
                <a:cs typeface="Arial" panose="020B0604020202020204" pitchFamily="34" charset="0"/>
              </a:rPr>
              <a:t>Risk visualization</a:t>
            </a:r>
          </a:p>
          <a:p>
            <a:pPr>
              <a:lnSpc>
                <a:spcPct val="150000"/>
              </a:lnSpc>
            </a:pPr>
            <a:r>
              <a:rPr lang="en-IN" sz="2400" dirty="0">
                <a:latin typeface="Arial" panose="020B0604020202020204" pitchFamily="34" charset="0"/>
                <a:cs typeface="Arial" panose="020B0604020202020204" pitchFamily="34" charset="0"/>
              </a:rPr>
              <a:t>PDF report generation</a:t>
            </a:r>
          </a:p>
        </p:txBody>
      </p:sp>
      <p:sp>
        <p:nvSpPr>
          <p:cNvPr id="13" name="TextBox 12">
            <a:extLst>
              <a:ext uri="{FF2B5EF4-FFF2-40B4-BE49-F238E27FC236}">
                <a16:creationId xmlns:a16="http://schemas.microsoft.com/office/drawing/2014/main" id="{3AB56CAB-3C10-30E4-4D00-D0F87B67891F}"/>
              </a:ext>
            </a:extLst>
          </p:cNvPr>
          <p:cNvSpPr txBox="1"/>
          <p:nvPr/>
        </p:nvSpPr>
        <p:spPr>
          <a:xfrm>
            <a:off x="6395425" y="3093801"/>
            <a:ext cx="1294478" cy="446276"/>
          </a:xfrm>
          <a:prstGeom prst="rect">
            <a:avLst/>
          </a:prstGeom>
          <a:noFill/>
        </p:spPr>
        <p:txBody>
          <a:bodyPr wrap="square">
            <a:spAutoFit/>
          </a:bodyPr>
          <a:lstStyle/>
          <a:p>
            <a:r>
              <a:rPr lang="en-IN" sz="2300" b="1" dirty="0">
                <a:solidFill>
                  <a:schemeClr val="tx2">
                    <a:lumMod val="90000"/>
                    <a:lumOff val="10000"/>
                  </a:schemeClr>
                </a:solidFill>
                <a:latin typeface="Arial" panose="020B0604020202020204" pitchFamily="34" charset="0"/>
                <a:cs typeface="Arial" panose="020B0604020202020204" pitchFamily="34" charset="0"/>
              </a:rPr>
              <a:t>Output</a:t>
            </a:r>
          </a:p>
        </p:txBody>
      </p:sp>
      <p:sp>
        <p:nvSpPr>
          <p:cNvPr id="16" name="TextBox 15">
            <a:extLst>
              <a:ext uri="{FF2B5EF4-FFF2-40B4-BE49-F238E27FC236}">
                <a16:creationId xmlns:a16="http://schemas.microsoft.com/office/drawing/2014/main" id="{6AE82CA0-D66D-6086-79BF-9F00FD7DE123}"/>
              </a:ext>
            </a:extLst>
          </p:cNvPr>
          <p:cNvSpPr txBox="1"/>
          <p:nvPr/>
        </p:nvSpPr>
        <p:spPr>
          <a:xfrm>
            <a:off x="5510273" y="3520016"/>
            <a:ext cx="3657602" cy="168584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Arial" panose="020B0604020202020204" pitchFamily="34" charset="0"/>
                <a:cs typeface="Arial" panose="020B0604020202020204" pitchFamily="34" charset="0"/>
              </a:rPr>
              <a:t>Security Dashboard</a:t>
            </a:r>
          </a:p>
          <a:p>
            <a:pPr marL="342900" indent="-342900">
              <a:lnSpc>
                <a:spcPct val="150000"/>
              </a:lnSpc>
              <a:buFont typeface="Arial" panose="020B0604020202020204" pitchFamily="34" charset="0"/>
              <a:buChar char="•"/>
            </a:pPr>
            <a:r>
              <a:rPr lang="en-IN" sz="2400" dirty="0">
                <a:latin typeface="Arial" panose="020B0604020202020204" pitchFamily="34" charset="0"/>
                <a:cs typeface="Arial" panose="020B0604020202020204" pitchFamily="34" charset="0"/>
              </a:rPr>
              <a:t>PDF Report</a:t>
            </a:r>
          </a:p>
          <a:p>
            <a:pPr marL="342900" indent="-342900">
              <a:lnSpc>
                <a:spcPct val="150000"/>
              </a:lnSpc>
              <a:buFont typeface="Arial" panose="020B0604020202020204" pitchFamily="34" charset="0"/>
              <a:buChar char="•"/>
            </a:pPr>
            <a:r>
              <a:rPr lang="en-IN" sz="2400" dirty="0">
                <a:latin typeface="Arial" panose="020B0604020202020204" pitchFamily="34" charset="0"/>
                <a:cs typeface="Arial" panose="020B0604020202020204" pitchFamily="34" charset="0"/>
              </a:rPr>
              <a:t>Scan Summary</a:t>
            </a:r>
          </a:p>
        </p:txBody>
      </p:sp>
    </p:spTree>
    <p:extLst>
      <p:ext uri="{BB962C8B-B14F-4D97-AF65-F5344CB8AC3E}">
        <p14:creationId xmlns:p14="http://schemas.microsoft.com/office/powerpoint/2010/main" val="366828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C4690D-1421-C88B-EC52-C95C2E4C0AAA}"/>
              </a:ext>
            </a:extLst>
          </p:cNvPr>
          <p:cNvSpPr>
            <a:spLocks noGrp="1"/>
          </p:cNvSpPr>
          <p:nvPr>
            <p:ph type="title"/>
          </p:nvPr>
        </p:nvSpPr>
        <p:spPr>
          <a:xfrm>
            <a:off x="2243252" y="39815"/>
            <a:ext cx="7705495" cy="1325563"/>
          </a:xfrm>
        </p:spPr>
        <p:txBody>
          <a:bodyPr>
            <a:noAutofit/>
          </a:bodyPr>
          <a:lstStyle/>
          <a:p>
            <a:r>
              <a:rPr lang="en-IN" b="1" dirty="0">
                <a:solidFill>
                  <a:schemeClr val="tx2">
                    <a:lumMod val="90000"/>
                    <a:lumOff val="10000"/>
                  </a:schemeClr>
                </a:solidFill>
                <a:latin typeface="Arial" panose="020B0604020202020204" pitchFamily="34" charset="0"/>
                <a:cs typeface="Arial" panose="020B0604020202020204" pitchFamily="34" charset="0"/>
              </a:rPr>
              <a:t>Tools &amp; Technologies Used</a:t>
            </a:r>
          </a:p>
        </p:txBody>
      </p:sp>
      <p:pic>
        <p:nvPicPr>
          <p:cNvPr id="2" name="Picture 1">
            <a:extLst>
              <a:ext uri="{FF2B5EF4-FFF2-40B4-BE49-F238E27FC236}">
                <a16:creationId xmlns:a16="http://schemas.microsoft.com/office/drawing/2014/main" id="{B09C0005-EAF3-05F9-9061-F8AB2BE68B6D}"/>
              </a:ext>
            </a:extLst>
          </p:cNvPr>
          <p:cNvPicPr>
            <a:picLocks noChangeAspect="1"/>
          </p:cNvPicPr>
          <p:nvPr/>
        </p:nvPicPr>
        <p:blipFill>
          <a:blip r:embed="rId2"/>
          <a:stretch>
            <a:fillRect/>
          </a:stretch>
        </p:blipFill>
        <p:spPr>
          <a:xfrm>
            <a:off x="80560" y="0"/>
            <a:ext cx="1412798" cy="1288473"/>
          </a:xfrm>
          <a:prstGeom prst="rect">
            <a:avLst/>
          </a:prstGeom>
        </p:spPr>
      </p:pic>
      <p:sp>
        <p:nvSpPr>
          <p:cNvPr id="5" name="Freeform 6">
            <a:extLst>
              <a:ext uri="{FF2B5EF4-FFF2-40B4-BE49-F238E27FC236}">
                <a16:creationId xmlns:a16="http://schemas.microsoft.com/office/drawing/2014/main" id="{89702968-1941-AAE1-AC8F-0536208F8BFC}"/>
              </a:ext>
            </a:extLst>
          </p:cNvPr>
          <p:cNvSpPr/>
          <p:nvPr/>
        </p:nvSpPr>
        <p:spPr>
          <a:xfrm>
            <a:off x="10596161" y="-8847"/>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sp>
        <p:nvSpPr>
          <p:cNvPr id="7" name="Content Placeholder 6">
            <a:extLst>
              <a:ext uri="{FF2B5EF4-FFF2-40B4-BE49-F238E27FC236}">
                <a16:creationId xmlns:a16="http://schemas.microsoft.com/office/drawing/2014/main" id="{A2DAF091-003B-FAE1-2397-15C3735BD993}"/>
              </a:ext>
            </a:extLst>
          </p:cNvPr>
          <p:cNvSpPr>
            <a:spLocks noGrp="1"/>
          </p:cNvSpPr>
          <p:nvPr>
            <p:ph idx="1"/>
          </p:nvPr>
        </p:nvSpPr>
        <p:spPr>
          <a:xfrm>
            <a:off x="96338" y="1414041"/>
            <a:ext cx="8717156" cy="4351338"/>
          </a:xfrm>
        </p:spPr>
        <p:txBody>
          <a:bodyPr>
            <a:noAutofit/>
          </a:bodyPr>
          <a:lstStyle/>
          <a:p>
            <a:pPr>
              <a:lnSpc>
                <a:spcPct val="150000"/>
              </a:lnSpc>
            </a:pPr>
            <a:r>
              <a:rPr lang="en-IN" sz="2200" dirty="0">
                <a:latin typeface="Arial" panose="020B0604020202020204" pitchFamily="34" charset="0"/>
                <a:cs typeface="Arial" panose="020B0604020202020204" pitchFamily="34" charset="0"/>
              </a:rPr>
              <a:t>Java 21 – Core programming language for backend implementation.</a:t>
            </a:r>
          </a:p>
          <a:p>
            <a:pPr>
              <a:lnSpc>
                <a:spcPct val="150000"/>
              </a:lnSpc>
            </a:pPr>
            <a:r>
              <a:rPr lang="en-IN" sz="2200" dirty="0">
                <a:latin typeface="Arial" panose="020B0604020202020204" pitchFamily="34" charset="0"/>
                <a:cs typeface="Arial" panose="020B0604020202020204" pitchFamily="34" charset="0"/>
              </a:rPr>
              <a:t>Spring Boot – Web framework for building the DevDeployShield application.</a:t>
            </a:r>
          </a:p>
          <a:p>
            <a:pPr>
              <a:lnSpc>
                <a:spcPct val="150000"/>
              </a:lnSpc>
            </a:pPr>
            <a:r>
              <a:rPr lang="en-IN" sz="2200" dirty="0">
                <a:latin typeface="Arial" panose="020B0604020202020204" pitchFamily="34" charset="0"/>
                <a:cs typeface="Arial" panose="020B0604020202020204" pitchFamily="34" charset="0"/>
              </a:rPr>
              <a:t>Thymeleaf + HTML + CSS + JavaScript – Frontend development and user interface.</a:t>
            </a:r>
          </a:p>
          <a:p>
            <a:pPr>
              <a:lnSpc>
                <a:spcPct val="150000"/>
              </a:lnSpc>
            </a:pPr>
            <a:r>
              <a:rPr lang="en-IN" sz="2200" dirty="0">
                <a:latin typeface="Arial" panose="020B0604020202020204" pitchFamily="34" charset="0"/>
                <a:cs typeface="Arial" panose="020B0604020202020204" pitchFamily="34" charset="0"/>
              </a:rPr>
              <a:t>Maven – Dependency management and project build automation.</a:t>
            </a:r>
          </a:p>
          <a:p>
            <a:pPr>
              <a:lnSpc>
                <a:spcPct val="150000"/>
              </a:lnSpc>
            </a:pPr>
            <a:r>
              <a:rPr lang="en-IN" sz="2200" dirty="0">
                <a:latin typeface="Arial" panose="020B0604020202020204" pitchFamily="34" charset="0"/>
                <a:cs typeface="Arial" panose="020B0604020202020204" pitchFamily="34" charset="0"/>
              </a:rPr>
              <a:t>ZIP Utilities &amp; Java File I/O – Project upload, extraction, and source code scanning.</a:t>
            </a:r>
          </a:p>
        </p:txBody>
      </p:sp>
      <p:pic>
        <p:nvPicPr>
          <p:cNvPr id="8" name="Picture 7" descr="Fewer Technologies and Tools in Organizations | by Anuj Agarwal | Bootcamp | Medium">
            <a:extLst>
              <a:ext uri="{FF2B5EF4-FFF2-40B4-BE49-F238E27FC236}">
                <a16:creationId xmlns:a16="http://schemas.microsoft.com/office/drawing/2014/main" id="{E5C82364-C8E1-2124-1A01-684FB84F4AF9}"/>
              </a:ext>
            </a:extLst>
          </p:cNvPr>
          <p:cNvPicPr>
            <a:picLocks noChangeAspect="1"/>
          </p:cNvPicPr>
          <p:nvPr/>
        </p:nvPicPr>
        <p:blipFill>
          <a:blip r:embed="rId4"/>
          <a:stretch>
            <a:fillRect/>
          </a:stretch>
        </p:blipFill>
        <p:spPr>
          <a:xfrm>
            <a:off x="8466751" y="2371093"/>
            <a:ext cx="3725249" cy="2994121"/>
          </a:xfrm>
          <a:prstGeom prst="rect">
            <a:avLst/>
          </a:prstGeom>
        </p:spPr>
      </p:pic>
    </p:spTree>
    <p:extLst>
      <p:ext uri="{BB962C8B-B14F-4D97-AF65-F5344CB8AC3E}">
        <p14:creationId xmlns:p14="http://schemas.microsoft.com/office/powerpoint/2010/main" val="791381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134D6D-E913-0009-3936-822781EB934B}"/>
              </a:ext>
            </a:extLst>
          </p:cNvPr>
          <p:cNvPicPr>
            <a:picLocks noChangeAspect="1"/>
          </p:cNvPicPr>
          <p:nvPr/>
        </p:nvPicPr>
        <p:blipFill>
          <a:blip r:embed="rId2"/>
          <a:stretch>
            <a:fillRect/>
          </a:stretch>
        </p:blipFill>
        <p:spPr>
          <a:xfrm>
            <a:off x="80560" y="0"/>
            <a:ext cx="1412798" cy="1288473"/>
          </a:xfrm>
          <a:prstGeom prst="rect">
            <a:avLst/>
          </a:prstGeom>
        </p:spPr>
      </p:pic>
      <p:sp>
        <p:nvSpPr>
          <p:cNvPr id="5" name="Freeform 6">
            <a:extLst>
              <a:ext uri="{FF2B5EF4-FFF2-40B4-BE49-F238E27FC236}">
                <a16:creationId xmlns:a16="http://schemas.microsoft.com/office/drawing/2014/main" id="{12059F1E-E18E-F6B4-C00F-93ABAC3A7A3B}"/>
              </a:ext>
            </a:extLst>
          </p:cNvPr>
          <p:cNvSpPr/>
          <p:nvPr/>
        </p:nvSpPr>
        <p:spPr>
          <a:xfrm>
            <a:off x="10596161" y="-8847"/>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sp>
        <p:nvSpPr>
          <p:cNvPr id="7" name="Title 6">
            <a:extLst>
              <a:ext uri="{FF2B5EF4-FFF2-40B4-BE49-F238E27FC236}">
                <a16:creationId xmlns:a16="http://schemas.microsoft.com/office/drawing/2014/main" id="{FF5A0798-860E-2FCB-8392-060A84C0C724}"/>
              </a:ext>
            </a:extLst>
          </p:cNvPr>
          <p:cNvSpPr>
            <a:spLocks noGrp="1"/>
          </p:cNvSpPr>
          <p:nvPr>
            <p:ph type="title"/>
          </p:nvPr>
        </p:nvSpPr>
        <p:spPr>
          <a:xfrm>
            <a:off x="3294961" y="275197"/>
            <a:ext cx="10515600" cy="1325563"/>
          </a:xfrm>
        </p:spPr>
        <p:txBody>
          <a:bodyPr/>
          <a:lstStyle/>
          <a:p>
            <a:r>
              <a:rPr lang="en-IN" dirty="0">
                <a:solidFill>
                  <a:schemeClr val="accent1"/>
                </a:solidFill>
              </a:rPr>
              <a:t>ADVANTAGES</a:t>
            </a:r>
          </a:p>
        </p:txBody>
      </p:sp>
      <p:sp>
        <p:nvSpPr>
          <p:cNvPr id="8" name="Content Placeholder 7">
            <a:extLst>
              <a:ext uri="{FF2B5EF4-FFF2-40B4-BE49-F238E27FC236}">
                <a16:creationId xmlns:a16="http://schemas.microsoft.com/office/drawing/2014/main" id="{9EB2EB5B-38D5-E2F5-BED3-58E249BDE051}"/>
              </a:ext>
            </a:extLst>
          </p:cNvPr>
          <p:cNvSpPr>
            <a:spLocks noGrp="1"/>
          </p:cNvSpPr>
          <p:nvPr>
            <p:ph idx="1"/>
          </p:nvPr>
        </p:nvSpPr>
        <p:spPr>
          <a:xfrm>
            <a:off x="80560" y="1826399"/>
            <a:ext cx="8676242" cy="4351338"/>
          </a:xfrm>
        </p:spPr>
        <p:txBody>
          <a:bodyPr>
            <a:noAutofit/>
          </a:bodyPr>
          <a:lstStyle/>
          <a:p>
            <a:pPr>
              <a:lnSpc>
                <a:spcPct val="100000"/>
              </a:lnSpc>
            </a:pPr>
            <a:r>
              <a:rPr lang="en-US" dirty="0">
                <a:latin typeface="Arial" panose="020B0604020202020204" pitchFamily="34" charset="0"/>
                <a:cs typeface="Arial" panose="020B0604020202020204" pitchFamily="34" charset="0"/>
              </a:rPr>
              <a:t>Automates vulnerability detection and secure code review</a:t>
            </a:r>
          </a:p>
          <a:p>
            <a:pPr>
              <a:lnSpc>
                <a:spcPct val="100000"/>
              </a:lnSpc>
            </a:pPr>
            <a:r>
              <a:rPr lang="en-US" dirty="0">
                <a:latin typeface="Arial" panose="020B0604020202020204" pitchFamily="34" charset="0"/>
                <a:cs typeface="Arial" panose="020B0604020202020204" pitchFamily="34" charset="0"/>
              </a:rPr>
              <a:t>Reduces manual effort and improves development efficiency.</a:t>
            </a:r>
          </a:p>
          <a:p>
            <a:pPr>
              <a:lnSpc>
                <a:spcPct val="100000"/>
              </a:lnSpc>
            </a:pPr>
            <a:r>
              <a:rPr lang="en-IN" dirty="0">
                <a:latin typeface="Arial" panose="020B0604020202020204" pitchFamily="34" charset="0"/>
                <a:cs typeface="Arial" panose="020B0604020202020204" pitchFamily="34" charset="0"/>
              </a:rPr>
              <a:t>Provides developer-friendly security recommendations.</a:t>
            </a:r>
          </a:p>
          <a:p>
            <a:pPr>
              <a:lnSpc>
                <a:spcPct val="100000"/>
              </a:lnSpc>
            </a:pPr>
            <a:r>
              <a:rPr lang="en-US" dirty="0">
                <a:latin typeface="Arial" panose="020B0604020202020204" pitchFamily="34" charset="0"/>
                <a:cs typeface="Arial" panose="020B0604020202020204" pitchFamily="34" charset="0"/>
              </a:rPr>
              <a:t>Improves application security before deployment.</a:t>
            </a:r>
          </a:p>
          <a:p>
            <a:pPr>
              <a:lnSpc>
                <a:spcPct val="100000"/>
              </a:lnSpc>
            </a:pPr>
            <a:r>
              <a:rPr lang="en-US" dirty="0">
                <a:latin typeface="Arial" panose="020B0604020202020204" pitchFamily="34" charset="0"/>
                <a:cs typeface="Arial" panose="020B0604020202020204" pitchFamily="34" charset="0"/>
              </a:rPr>
              <a:t>Supports </a:t>
            </a:r>
            <a:r>
              <a:rPr lang="en-US" dirty="0" err="1">
                <a:latin typeface="Arial" panose="020B0604020202020204" pitchFamily="34" charset="0"/>
                <a:cs typeface="Arial" panose="020B0604020202020204" pitchFamily="34" charset="0"/>
              </a:rPr>
              <a:t>DevSecOps</a:t>
            </a:r>
            <a:r>
              <a:rPr lang="en-US" dirty="0">
                <a:latin typeface="Arial" panose="020B0604020202020204" pitchFamily="34" charset="0"/>
                <a:cs typeface="Arial" panose="020B0604020202020204" pitchFamily="34" charset="0"/>
              </a:rPr>
              <a:t> practices by integrating security into development.</a:t>
            </a:r>
            <a:endParaRPr lang="en-IN" dirty="0">
              <a:latin typeface="Arial" panose="020B0604020202020204" pitchFamily="34" charset="0"/>
              <a:cs typeface="Arial" panose="020B0604020202020204" pitchFamily="34" charset="0"/>
            </a:endParaRPr>
          </a:p>
        </p:txBody>
      </p:sp>
      <p:pic>
        <p:nvPicPr>
          <p:cNvPr id="9" name="Image 0">
            <a:extLst>
              <a:ext uri="{FF2B5EF4-FFF2-40B4-BE49-F238E27FC236}">
                <a16:creationId xmlns:a16="http://schemas.microsoft.com/office/drawing/2014/main" id="{B192509C-7E07-58A8-4326-E9B6D2F44762}"/>
              </a:ext>
            </a:extLst>
          </p:cNvPr>
          <p:cNvPicPr>
            <a:picLocks noChangeAspect="1"/>
          </p:cNvPicPr>
          <p:nvPr/>
        </p:nvPicPr>
        <p:blipFill>
          <a:blip r:embed="rId4"/>
          <a:stretch>
            <a:fillRect/>
          </a:stretch>
        </p:blipFill>
        <p:spPr>
          <a:xfrm>
            <a:off x="8591550" y="1726328"/>
            <a:ext cx="3600450" cy="5131672"/>
          </a:xfrm>
          <a:custGeom>
            <a:avLst/>
            <a:gdLst/>
            <a:ahLst/>
            <a:cxnLst/>
            <a:rect l="0" t="0" r="100000" b="100000"/>
            <a:pathLst>
              <a:path w="100000" h="100000">
                <a:moveTo>
                  <a:pt x="8790" y="0"/>
                </a:moveTo>
                <a:lnTo>
                  <a:pt x="100000" y="0"/>
                </a:lnTo>
                <a:lnTo>
                  <a:pt x="100000" y="100000"/>
                </a:lnTo>
                <a:lnTo>
                  <a:pt x="13180" y="99900"/>
                </a:lnTo>
                <a:lnTo>
                  <a:pt x="8110" y="91990"/>
                </a:lnTo>
                <a:lnTo>
                  <a:pt x="4200" y="84670"/>
                </a:lnTo>
                <a:lnTo>
                  <a:pt x="2640" y="81150"/>
                </a:lnTo>
                <a:lnTo>
                  <a:pt x="1270" y="77440"/>
                </a:lnTo>
                <a:lnTo>
                  <a:pt x="490" y="74610"/>
                </a:lnTo>
                <a:lnTo>
                  <a:pt x="0" y="71480"/>
                </a:lnTo>
                <a:lnTo>
                  <a:pt x="200" y="67290"/>
                </a:lnTo>
                <a:lnTo>
                  <a:pt x="1270" y="63280"/>
                </a:lnTo>
                <a:lnTo>
                  <a:pt x="2830" y="59860"/>
                </a:lnTo>
                <a:lnTo>
                  <a:pt x="5080" y="56050"/>
                </a:lnTo>
                <a:lnTo>
                  <a:pt x="6840" y="52540"/>
                </a:lnTo>
                <a:lnTo>
                  <a:pt x="7910" y="49610"/>
                </a:lnTo>
                <a:lnTo>
                  <a:pt x="8690" y="45700"/>
                </a:lnTo>
                <a:lnTo>
                  <a:pt x="8790" y="40140"/>
                </a:lnTo>
                <a:lnTo>
                  <a:pt x="8590" y="36520"/>
                </a:lnTo>
                <a:lnTo>
                  <a:pt x="8110" y="31930"/>
                </a:lnTo>
                <a:lnTo>
                  <a:pt x="6540" y="21970"/>
                </a:lnTo>
                <a:lnTo>
                  <a:pt x="6150" y="14750"/>
                </a:lnTo>
                <a:lnTo>
                  <a:pt x="6450" y="10350"/>
                </a:lnTo>
                <a:lnTo>
                  <a:pt x="6930" y="7030"/>
                </a:lnTo>
                <a:lnTo>
                  <a:pt x="7910" y="2640"/>
                </a:lnTo>
                <a:close/>
              </a:path>
            </a:pathLst>
          </a:custGeom>
        </p:spPr>
      </p:pic>
    </p:spTree>
    <p:extLst>
      <p:ext uri="{BB962C8B-B14F-4D97-AF65-F5344CB8AC3E}">
        <p14:creationId xmlns:p14="http://schemas.microsoft.com/office/powerpoint/2010/main" val="2891117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F102D-CAF6-20AE-1DCD-820AF135BA2F}"/>
              </a:ext>
            </a:extLst>
          </p:cNvPr>
          <p:cNvSpPr>
            <a:spLocks noGrp="1"/>
          </p:cNvSpPr>
          <p:nvPr>
            <p:ph type="title"/>
          </p:nvPr>
        </p:nvSpPr>
        <p:spPr>
          <a:xfrm>
            <a:off x="523819" y="644236"/>
            <a:ext cx="10515600" cy="854074"/>
          </a:xfrm>
        </p:spPr>
        <p:txBody>
          <a:bodyPr/>
          <a:lstStyle/>
          <a:p>
            <a:r>
              <a:rPr lang="en-IN" dirty="0"/>
              <a:t>                           </a:t>
            </a:r>
            <a:r>
              <a:rPr lang="en-IN" b="1" dirty="0">
                <a:solidFill>
                  <a:srgbClr val="7030A0"/>
                </a:solidFill>
              </a:rPr>
              <a:t>    LIMITATIONS</a:t>
            </a:r>
          </a:p>
        </p:txBody>
      </p:sp>
      <p:sp>
        <p:nvSpPr>
          <p:cNvPr id="5" name="Rectangle 2">
            <a:extLst>
              <a:ext uri="{FF2B5EF4-FFF2-40B4-BE49-F238E27FC236}">
                <a16:creationId xmlns:a16="http://schemas.microsoft.com/office/drawing/2014/main" id="{AF89A754-6018-FDFD-A179-AC9459C613E8}"/>
              </a:ext>
            </a:extLst>
          </p:cNvPr>
          <p:cNvSpPr>
            <a:spLocks noGrp="1" noChangeArrowheads="1"/>
          </p:cNvSpPr>
          <p:nvPr>
            <p:ph idx="1"/>
          </p:nvPr>
        </p:nvSpPr>
        <p:spPr bwMode="auto">
          <a:xfrm>
            <a:off x="0" y="1461499"/>
            <a:ext cx="9000781" cy="472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lang="en-US" altLang="en-US" sz="2900" dirty="0">
              <a:latin typeface="Arial" panose="020B0604020202020204" pitchFamily="34" charset="0"/>
              <a:cs typeface="Arial" panose="020B0604020202020204" pitchFamily="34" charset="0"/>
            </a:endParaRPr>
          </a:p>
          <a:p>
            <a:pPr eaLnBrk="0" fontAlgn="base" hangingPunct="0">
              <a:lnSpc>
                <a:spcPct val="150000"/>
              </a:lnSpc>
              <a:spcBef>
                <a:spcPct val="0"/>
              </a:spcBef>
              <a:spcAft>
                <a:spcPct val="0"/>
              </a:spcAft>
            </a:pPr>
            <a:r>
              <a:rPr lang="en-US" altLang="en-US" sz="2600" dirty="0">
                <a:latin typeface="Arial" panose="020B0604020202020204" pitchFamily="34" charset="0"/>
                <a:cs typeface="Arial" panose="020B0604020202020204" pitchFamily="34" charset="0"/>
              </a:rPr>
              <a:t>Currently supports only Java and Spring Boot projects.</a:t>
            </a:r>
          </a:p>
          <a:p>
            <a:pPr eaLnBrk="0" fontAlgn="base" hangingPunct="0">
              <a:lnSpc>
                <a:spcPct val="150000"/>
              </a:lnSpc>
              <a:spcBef>
                <a:spcPct val="0"/>
              </a:spcBef>
              <a:spcAft>
                <a:spcPct val="0"/>
              </a:spcAft>
            </a:pPr>
            <a:r>
              <a:rPr lang="en-US" altLang="en-US" sz="2600" dirty="0">
                <a:latin typeface="Arial" panose="020B0604020202020204" pitchFamily="34" charset="0"/>
                <a:cs typeface="Arial" panose="020B0604020202020204" pitchFamily="34" charset="0"/>
              </a:rPr>
              <a:t>Uses rule-based detection for many vulnerabilities in  current version.</a:t>
            </a:r>
          </a:p>
          <a:p>
            <a:pPr eaLnBrk="0" fontAlgn="base" hangingPunct="0">
              <a:lnSpc>
                <a:spcPct val="150000"/>
              </a:lnSpc>
              <a:spcBef>
                <a:spcPct val="0"/>
              </a:spcBef>
              <a:spcAft>
                <a:spcPct val="0"/>
              </a:spcAft>
            </a:pPr>
            <a:r>
              <a:rPr lang="en-US" altLang="en-US" sz="2600" dirty="0">
                <a:latin typeface="Arial" panose="020B0604020202020204" pitchFamily="34" charset="0"/>
                <a:cs typeface="Arial" panose="020B0604020202020204" pitchFamily="34" charset="0"/>
              </a:rPr>
              <a:t>Does not perform dynamic runtime security testing.</a:t>
            </a:r>
          </a:p>
          <a:p>
            <a:pPr eaLnBrk="0" fontAlgn="base" hangingPunct="0">
              <a:lnSpc>
                <a:spcPct val="150000"/>
              </a:lnSpc>
              <a:spcBef>
                <a:spcPct val="0"/>
              </a:spcBef>
              <a:spcAft>
                <a:spcPct val="0"/>
              </a:spcAft>
            </a:pPr>
            <a:r>
              <a:rPr lang="en-US" altLang="en-US" sz="2600" dirty="0">
                <a:latin typeface="Arial" panose="020B0604020202020204" pitchFamily="34" charset="0"/>
                <a:cs typeface="Arial" panose="020B0604020202020204" pitchFamily="34" charset="0"/>
              </a:rPr>
              <a:t>Large projects may require additional scanning time.</a:t>
            </a:r>
          </a:p>
          <a:p>
            <a:pPr eaLnBrk="0" fontAlgn="base" hangingPunct="0">
              <a:lnSpc>
                <a:spcPct val="150000"/>
              </a:lnSpc>
              <a:spcBef>
                <a:spcPct val="0"/>
              </a:spcBef>
              <a:spcAft>
                <a:spcPct val="0"/>
              </a:spcAft>
            </a:pPr>
            <a:r>
              <a:rPr lang="en-US" altLang="en-US" sz="2600" dirty="0">
                <a:latin typeface="Arial" panose="020B0604020202020204" pitchFamily="34" charset="0"/>
                <a:cs typeface="Arial" panose="020B0604020202020204" pitchFamily="34" charset="0"/>
              </a:rPr>
              <a:t>Advanced AI models require more computational resources for deeper analysis</a:t>
            </a:r>
            <a:r>
              <a:rPr lang="en-US" altLang="en-US" sz="2900" dirty="0">
                <a:latin typeface="Arial" panose="020B0604020202020204" pitchFamily="34" charset="0"/>
                <a:cs typeface="Arial" panose="020B0604020202020204" pitchFamily="34" charset="0"/>
              </a:rPr>
              <a:t>.</a:t>
            </a:r>
            <a:endParaRPr kumimoji="0" lang="en-US" altLang="en-US" sz="29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AA91F003-794E-E916-C855-6EE20FEE74C6}"/>
              </a:ext>
            </a:extLst>
          </p:cNvPr>
          <p:cNvPicPr>
            <a:picLocks noChangeAspect="1"/>
          </p:cNvPicPr>
          <p:nvPr/>
        </p:nvPicPr>
        <p:blipFill>
          <a:blip r:embed="rId2"/>
          <a:stretch>
            <a:fillRect/>
          </a:stretch>
        </p:blipFill>
        <p:spPr>
          <a:xfrm>
            <a:off x="80560" y="0"/>
            <a:ext cx="1412798" cy="1288473"/>
          </a:xfrm>
          <a:prstGeom prst="rect">
            <a:avLst/>
          </a:prstGeom>
        </p:spPr>
      </p:pic>
      <p:sp>
        <p:nvSpPr>
          <p:cNvPr id="4" name="Freeform 6">
            <a:extLst>
              <a:ext uri="{FF2B5EF4-FFF2-40B4-BE49-F238E27FC236}">
                <a16:creationId xmlns:a16="http://schemas.microsoft.com/office/drawing/2014/main" id="{140587DC-4EC2-AEBE-F509-C58A733C985E}"/>
              </a:ext>
            </a:extLst>
          </p:cNvPr>
          <p:cNvSpPr/>
          <p:nvPr/>
        </p:nvSpPr>
        <p:spPr>
          <a:xfrm>
            <a:off x="10596161" y="-8847"/>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pic>
        <p:nvPicPr>
          <p:cNvPr id="6" name="Picture 5" descr="Understanding The Limitations Of AI (Artificial Intelligence) | by Mark Levis | Medium">
            <a:extLst>
              <a:ext uri="{FF2B5EF4-FFF2-40B4-BE49-F238E27FC236}">
                <a16:creationId xmlns:a16="http://schemas.microsoft.com/office/drawing/2014/main" id="{2854976E-74D9-6EFB-E312-CDF983D19772}"/>
              </a:ext>
            </a:extLst>
          </p:cNvPr>
          <p:cNvPicPr>
            <a:picLocks noChangeAspect="1"/>
          </p:cNvPicPr>
          <p:nvPr/>
        </p:nvPicPr>
        <p:blipFill>
          <a:blip r:embed="rId4"/>
          <a:stretch>
            <a:fillRect/>
          </a:stretch>
        </p:blipFill>
        <p:spPr>
          <a:xfrm>
            <a:off x="8736376" y="1990249"/>
            <a:ext cx="3455624" cy="3980893"/>
          </a:xfrm>
          <a:prstGeom prst="rect">
            <a:avLst/>
          </a:prstGeom>
        </p:spPr>
      </p:pic>
    </p:spTree>
    <p:extLst>
      <p:ext uri="{BB962C8B-B14F-4D97-AF65-F5344CB8AC3E}">
        <p14:creationId xmlns:p14="http://schemas.microsoft.com/office/powerpoint/2010/main" val="3064159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B7884-4DDB-EC22-2200-4D39D1A087E5}"/>
              </a:ext>
            </a:extLst>
          </p:cNvPr>
          <p:cNvSpPr>
            <a:spLocks noGrp="1"/>
          </p:cNvSpPr>
          <p:nvPr>
            <p:ph type="title"/>
          </p:nvPr>
        </p:nvSpPr>
        <p:spPr>
          <a:xfrm>
            <a:off x="2287694" y="251518"/>
            <a:ext cx="6974840" cy="1036955"/>
          </a:xfrm>
        </p:spPr>
        <p:txBody>
          <a:bodyPr/>
          <a:lstStyle/>
          <a:p>
            <a:r>
              <a:rPr lang="en-IN" dirty="0"/>
              <a:t>                 </a:t>
            </a:r>
            <a:r>
              <a:rPr lang="en-IN" b="1" dirty="0">
                <a:solidFill>
                  <a:srgbClr val="7030A0"/>
                </a:solidFill>
              </a:rPr>
              <a:t>CONCLUSION</a:t>
            </a:r>
          </a:p>
        </p:txBody>
      </p:sp>
      <p:pic>
        <p:nvPicPr>
          <p:cNvPr id="4" name="Picture 3">
            <a:extLst>
              <a:ext uri="{FF2B5EF4-FFF2-40B4-BE49-F238E27FC236}">
                <a16:creationId xmlns:a16="http://schemas.microsoft.com/office/drawing/2014/main" id="{EA3CA43F-8067-6E09-0055-E51FC5D697AA}"/>
              </a:ext>
            </a:extLst>
          </p:cNvPr>
          <p:cNvPicPr>
            <a:picLocks noChangeAspect="1"/>
          </p:cNvPicPr>
          <p:nvPr/>
        </p:nvPicPr>
        <p:blipFill>
          <a:blip r:embed="rId2"/>
          <a:stretch>
            <a:fillRect/>
          </a:stretch>
        </p:blipFill>
        <p:spPr>
          <a:xfrm>
            <a:off x="0" y="-8847"/>
            <a:ext cx="1412798" cy="1288473"/>
          </a:xfrm>
          <a:prstGeom prst="rect">
            <a:avLst/>
          </a:prstGeom>
        </p:spPr>
      </p:pic>
      <p:sp>
        <p:nvSpPr>
          <p:cNvPr id="5" name="Freeform 6">
            <a:extLst>
              <a:ext uri="{FF2B5EF4-FFF2-40B4-BE49-F238E27FC236}">
                <a16:creationId xmlns:a16="http://schemas.microsoft.com/office/drawing/2014/main" id="{2A6404EE-E4AD-43C7-B5D2-EEF80A30C150}"/>
              </a:ext>
            </a:extLst>
          </p:cNvPr>
          <p:cNvSpPr/>
          <p:nvPr/>
        </p:nvSpPr>
        <p:spPr>
          <a:xfrm>
            <a:off x="10596161" y="-8847"/>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3"/>
            <a:stretch>
              <a:fillRect/>
            </a:stretch>
          </a:blipFill>
        </p:spPr>
        <p:txBody>
          <a:bodyPr/>
          <a:lstStyle/>
          <a:p>
            <a:endParaRPr lang="en-IN"/>
          </a:p>
        </p:txBody>
      </p:sp>
      <p:sp>
        <p:nvSpPr>
          <p:cNvPr id="11" name="TextBox 10">
            <a:extLst>
              <a:ext uri="{FF2B5EF4-FFF2-40B4-BE49-F238E27FC236}">
                <a16:creationId xmlns:a16="http://schemas.microsoft.com/office/drawing/2014/main" id="{A3C129F0-14A5-0B99-317D-3B72C182BE6B}"/>
              </a:ext>
            </a:extLst>
          </p:cNvPr>
          <p:cNvSpPr txBox="1"/>
          <p:nvPr/>
        </p:nvSpPr>
        <p:spPr>
          <a:xfrm>
            <a:off x="132203" y="974742"/>
            <a:ext cx="12192000" cy="5709448"/>
          </a:xfrm>
          <a:prstGeom prst="rect">
            <a:avLst/>
          </a:prstGeom>
          <a:noFill/>
        </p:spPr>
        <p:txBody>
          <a:bodyPr wrap="square">
            <a:spAutoFit/>
          </a:bodyPr>
          <a:lstStyle/>
          <a:p>
            <a:endParaRPr lang="en-IN" dirty="0"/>
          </a:p>
          <a:p>
            <a:pPr marL="342900" indent="-342900">
              <a:lnSpc>
                <a:spcPct val="150000"/>
              </a:lnSpc>
              <a:buFont typeface="Arial" panose="020B0604020202020204" pitchFamily="34" charset="0"/>
              <a:buChar char="•"/>
            </a:pPr>
            <a:r>
              <a:rPr lang="en-IN" sz="2600" dirty="0">
                <a:latin typeface="Arial" panose="020B0604020202020204" pitchFamily="34" charset="0"/>
                <a:cs typeface="Arial" panose="020B0604020202020204" pitchFamily="34" charset="0"/>
              </a:rPr>
              <a:t>DevDeployShield simplifies secure software development by automating vulnerability detection.</a:t>
            </a:r>
          </a:p>
          <a:p>
            <a:pPr marL="342900" indent="-342900">
              <a:lnSpc>
                <a:spcPct val="150000"/>
              </a:lnSpc>
              <a:buFont typeface="Arial" panose="020B0604020202020204" pitchFamily="34" charset="0"/>
              <a:buChar char="•"/>
            </a:pPr>
            <a:r>
              <a:rPr lang="en-IN" sz="2600" dirty="0">
                <a:latin typeface="Arial" panose="020B0604020202020204" pitchFamily="34" charset="0"/>
                <a:cs typeface="Arial" panose="020B0604020202020204" pitchFamily="34" charset="0"/>
              </a:rPr>
              <a:t>The platform improves application security through intelligent code analysis and secure coding recommendations.</a:t>
            </a:r>
          </a:p>
          <a:p>
            <a:pPr marL="342900" indent="-342900">
              <a:lnSpc>
                <a:spcPct val="150000"/>
              </a:lnSpc>
              <a:buFont typeface="Arial" panose="020B0604020202020204" pitchFamily="34" charset="0"/>
              <a:buChar char="•"/>
            </a:pPr>
            <a:r>
              <a:rPr lang="en-IN" sz="2600" dirty="0">
                <a:latin typeface="Arial" panose="020B0604020202020204" pitchFamily="34" charset="0"/>
                <a:cs typeface="Arial" panose="020B0604020202020204" pitchFamily="34" charset="0"/>
              </a:rPr>
              <a:t>Developers can identify and fix security issues before software deployment.</a:t>
            </a:r>
          </a:p>
          <a:p>
            <a:pPr>
              <a:lnSpc>
                <a:spcPct val="150000"/>
              </a:lnSpc>
            </a:pPr>
            <a:r>
              <a:rPr lang="en-IN" sz="2600" dirty="0">
                <a:latin typeface="Arial" panose="020B0604020202020204" pitchFamily="34" charset="0"/>
                <a:cs typeface="Arial" panose="020B0604020202020204" pitchFamily="34" charset="0"/>
              </a:rPr>
              <a:t>    The project demonstrates practical implementation concepts using Spring Boot.   </a:t>
            </a:r>
          </a:p>
          <a:p>
            <a:pPr marL="342900" indent="-342900">
              <a:lnSpc>
                <a:spcPct val="150000"/>
              </a:lnSpc>
              <a:buFont typeface="Arial" panose="020B0604020202020204" pitchFamily="34" charset="0"/>
              <a:buChar char="•"/>
            </a:pPr>
            <a:r>
              <a:rPr lang="en-IN" sz="2600" dirty="0">
                <a:latin typeface="Arial" panose="020B0604020202020204" pitchFamily="34" charset="0"/>
                <a:cs typeface="Arial" panose="020B0604020202020204" pitchFamily="34" charset="0"/>
              </a:rPr>
              <a:t>Future enhancements will include machine learning–based vulnerability prediction, real-time monitoring, cloud deployment, and support for multiple programming languages</a:t>
            </a:r>
            <a:r>
              <a:rPr lang="en-IN" sz="2600" dirty="0"/>
              <a:t>.</a:t>
            </a:r>
          </a:p>
        </p:txBody>
      </p:sp>
    </p:spTree>
    <p:extLst>
      <p:ext uri="{BB962C8B-B14F-4D97-AF65-F5344CB8AC3E}">
        <p14:creationId xmlns:p14="http://schemas.microsoft.com/office/powerpoint/2010/main" val="2894717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FCE5E08-E8DD-A744-1008-75310F802DE8}"/>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1999" cy="6858000"/>
          </a:xfrm>
        </p:spPr>
      </p:pic>
      <p:pic>
        <p:nvPicPr>
          <p:cNvPr id="6" name="Picture 5">
            <a:extLst>
              <a:ext uri="{FF2B5EF4-FFF2-40B4-BE49-F238E27FC236}">
                <a16:creationId xmlns:a16="http://schemas.microsoft.com/office/drawing/2014/main" id="{1CC91136-78B3-DE82-0D00-3805597E3E72}"/>
              </a:ext>
            </a:extLst>
          </p:cNvPr>
          <p:cNvPicPr>
            <a:picLocks noChangeAspect="1"/>
          </p:cNvPicPr>
          <p:nvPr/>
        </p:nvPicPr>
        <p:blipFill>
          <a:blip r:embed="rId4"/>
          <a:stretch>
            <a:fillRect/>
          </a:stretch>
        </p:blipFill>
        <p:spPr>
          <a:xfrm>
            <a:off x="0" y="0"/>
            <a:ext cx="1412798" cy="1288473"/>
          </a:xfrm>
          <a:prstGeom prst="rect">
            <a:avLst/>
          </a:prstGeom>
        </p:spPr>
      </p:pic>
      <p:sp>
        <p:nvSpPr>
          <p:cNvPr id="7" name="Freeform 6">
            <a:extLst>
              <a:ext uri="{FF2B5EF4-FFF2-40B4-BE49-F238E27FC236}">
                <a16:creationId xmlns:a16="http://schemas.microsoft.com/office/drawing/2014/main" id="{750BCA69-9E15-27C4-0BC2-6B34DE32F4C4}"/>
              </a:ext>
            </a:extLst>
          </p:cNvPr>
          <p:cNvSpPr/>
          <p:nvPr/>
        </p:nvSpPr>
        <p:spPr>
          <a:xfrm>
            <a:off x="10596161" y="-8847"/>
            <a:ext cx="1595840" cy="1422888"/>
          </a:xfrm>
          <a:custGeom>
            <a:avLst/>
            <a:gdLst/>
            <a:ahLst/>
            <a:cxnLst/>
            <a:rect l="l" t="t" r="r" b="b"/>
            <a:pathLst>
              <a:path w="2097151" h="2097151">
                <a:moveTo>
                  <a:pt x="0" y="0"/>
                </a:moveTo>
                <a:lnTo>
                  <a:pt x="2097151" y="0"/>
                </a:lnTo>
                <a:lnTo>
                  <a:pt x="2097151" y="2097151"/>
                </a:lnTo>
                <a:lnTo>
                  <a:pt x="0" y="2097151"/>
                </a:lnTo>
                <a:lnTo>
                  <a:pt x="0" y="0"/>
                </a:lnTo>
                <a:close/>
              </a:path>
            </a:pathLst>
          </a:custGeom>
          <a:blipFill>
            <a:blip r:embed="rId5"/>
            <a:stretch>
              <a:fillRect/>
            </a:stretch>
          </a:blipFill>
        </p:spPr>
        <p:txBody>
          <a:bodyPr/>
          <a:lstStyle/>
          <a:p>
            <a:endParaRPr lang="en-IN"/>
          </a:p>
        </p:txBody>
      </p:sp>
    </p:spTree>
    <p:extLst>
      <p:ext uri="{BB962C8B-B14F-4D97-AF65-F5344CB8AC3E}">
        <p14:creationId xmlns:p14="http://schemas.microsoft.com/office/powerpoint/2010/main" val="3951313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Presentation1</Template>
  <TotalTime>594</TotalTime>
  <Words>835</Words>
  <Application>Microsoft Office PowerPoint</Application>
  <PresentationFormat>Widescreen</PresentationFormat>
  <Paragraphs>123</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                    INTRODUCTION</vt:lpstr>
      <vt:lpstr>                    PRROBLEM STATEMENT</vt:lpstr>
      <vt:lpstr>                        OBJECTIVE</vt:lpstr>
      <vt:lpstr>           Existing System vs Proposed System</vt:lpstr>
      <vt:lpstr>Module 1- Project Upload and Secure File Management Description</vt:lpstr>
      <vt:lpstr>Module 2 AI-Powered Vulnerability Detection Engine Description</vt:lpstr>
      <vt:lpstr>Module 3 Secure Code Review and Risk Assessment Description</vt:lpstr>
      <vt:lpstr>Module 4 Security Dashboard and Report Generation Description</vt:lpstr>
      <vt:lpstr>Tools &amp; Technologies Used</vt:lpstr>
      <vt:lpstr>ADVANTAGES</vt:lpstr>
      <vt:lpstr>                               LIMITATIONS</vt:lpstr>
      <vt:lpstr>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KEERTHANA YADAV</dc:creator>
  <cp:lastModifiedBy>Krithika Muralidharan</cp:lastModifiedBy>
  <cp:revision>8</cp:revision>
  <dcterms:created xsi:type="dcterms:W3CDTF">2026-05-11T01:27:06Z</dcterms:created>
  <dcterms:modified xsi:type="dcterms:W3CDTF">2026-08-04T18:24:55Z</dcterms:modified>
</cp:coreProperties>
</file>